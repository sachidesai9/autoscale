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1e717c2-ba10-1303-85fa-0b40dd63bdc5}">
          <p14:sldIdLst>
            <p14:sldId id="256"/>
            <p14:sldId id="257"/>
            <p14:sldId id="258"/>
            <p14:sldId id="259"/>
          </p14:sldIdLst>
        </p14:section>
        <p14:section name="Reproduction" id="{8335ec63-a97a-a356-f072-8d8f288f1b66}">
          <p14:sldIdLst>
            <p14:sldId id="260"/>
          </p14:sldIdLst>
        </p14:section>
        <p14:section name="Budget guard" id="{7bc70548-1dda-58bb-ebae-b231db0a8553}">
          <p14:sldIdLst>
            <p14:sldId id="261"/>
            <p14:sldId id="262"/>
            <p14:sldId id="263"/>
          </p14:sldIdLst>
        </p14:section>
        <p14:section name="Workloads and forecasting" id="{c9192e3b-898e-0de9-9f13-ff2610add2b1}">
          <p14:sldIdLst>
            <p14:sldId id="264"/>
            <p14:sldId id="265"/>
          </p14:sldIdLst>
        </p14:section>
        <p14:section name="System" id="{4b938410-64d4-6a46-1678-3b62d6c746e1}">
          <p14:sldIdLst>
            <p14:sldId id="266"/>
            <p14:sldId id="267"/>
          </p14:sldIdLst>
        </p14:section>
        <p14:section name="Conclusion" id="{7706ded6-78ee-881a-e3df-413a08c1eba3}">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328"/>
                </a:solidFill>
                <a:latin typeface="+mn-lt"/>
              </a:defRPr>
            </a:pPr>
            <a:r>
              <a:rPr sz="1400" b="0" i="0" u="none" strike="noStrike">
                <a:solidFill>
                  <a:srgbClr val="1F2328"/>
                </a:solidFill>
                <a:latin typeface="+mn-lt"/>
              </a:rPr>
              <a:t>Renting cost vs budget (₹)</a:t>
            </a:r>
          </a:p>
        </c:rich>
      </c:tx>
      <c:layout/>
      <c:overlay val="0"/>
    </c:title>
    <c:autoTitleDeleted val="0"/>
    <c:plotArea>
      <c:layout/>
      <c:lineChart>
        <c:varyColors val="0"/>
        <c:ser>
          <c:idx val="0"/>
          <c:order val="0"/>
          <c:tx>
            <c:strRef>
              <c:f>Sheet1!$B$1</c:f>
              <c:strCache>
                <c:ptCount val="1"/>
                <c:pt idx="0">
                  <c:v>Budget ₹</c:v>
                </c:pt>
              </c:strCache>
            </c:strRef>
          </c:tx>
          <c:spPr>
            <a:solidFill>
              <a:srgbClr val="8A8984"/>
            </a:solidFill>
            <a:ln w="25400" cap="flat">
              <a:solidFill>
                <a:srgbClr val="8A8984"/>
              </a:solidFill>
              <a:prstDash val="dash,solid,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A8984"/>
              </a:solidFill>
              <a:ln w="9525" cap="flat">
                <a:solidFill>
                  <a:srgbClr val="8A8984"/>
                </a:solidFill>
                <a:prstDash val="solid"/>
                <a:round/>
              </a:ln>
              <a:effectLst/>
            </c:spPr>
          </c:marker>
          <c:cat>
            <c:multiLvlStrRef>
              <c:f>Sheet1!$A$2:$A$12</c:f>
              <c:multiLvlStrCache>
                <c:ptCount val="11"/>
                <c:lvl>
                  <c:pt idx="0">
                    <c:v>₹500</c:v>
                  </c:pt>
                  <c:pt idx="1">
                    <c:v>₹750</c:v>
                  </c:pt>
                  <c:pt idx="2">
                    <c:v>₹1000</c:v>
                  </c:pt>
                  <c:pt idx="3">
                    <c:v>₹1250</c:v>
                  </c:pt>
                  <c:pt idx="4">
                    <c:v>₹1500</c:v>
                  </c:pt>
                  <c:pt idx="5">
                    <c:v>₹1750</c:v>
                  </c:pt>
                  <c:pt idx="6">
                    <c:v>₹2000</c:v>
                  </c:pt>
                  <c:pt idx="7">
                    <c:v>₹2250</c:v>
                  </c:pt>
                  <c:pt idx="8">
                    <c:v>₹2500</c:v>
                  </c:pt>
                  <c:pt idx="9">
                    <c:v>₹2750</c:v>
                  </c:pt>
                  <c:pt idx="10">
                    <c:v>₹3000</c:v>
                  </c:pt>
                </c:lvl>
              </c:multiLvlStrCache>
            </c:multiLvlStrRef>
          </c:cat>
          <c:val>
            <c:numRef>
              <c:f>Sheet1!$B$2:$B$12</c:f>
              <c:numCache>
                <c:formatCode>General</c:formatCode>
                <c:ptCount val="11"/>
                <c:pt idx="0">
                  <c:v>500</c:v>
                </c:pt>
                <c:pt idx="1">
                  <c:v>750</c:v>
                </c:pt>
                <c:pt idx="2">
                  <c:v>1000</c:v>
                </c:pt>
                <c:pt idx="3">
                  <c:v>1250</c:v>
                </c:pt>
                <c:pt idx="4">
                  <c:v>1500</c:v>
                </c:pt>
                <c:pt idx="5">
                  <c:v>1750</c:v>
                </c:pt>
                <c:pt idx="6">
                  <c:v>2000</c:v>
                </c:pt>
                <c:pt idx="7">
                  <c:v>2250</c:v>
                </c:pt>
                <c:pt idx="8">
                  <c:v>2500</c:v>
                </c:pt>
                <c:pt idx="9">
                  <c:v>2750</c:v>
                </c:pt>
                <c:pt idx="10">
                  <c:v>3000</c:v>
                </c:pt>
              </c:numCache>
            </c:numRef>
          </c:val>
          <c:smooth val="0"/>
        </c:ser>
        <c:ser>
          <c:idx val="1"/>
          <c:order val="1"/>
          <c:tx>
            <c:strRef>
              <c:f>Sheet1!$C$1</c:f>
              <c:strCache>
                <c:ptCount val="1"/>
                <c:pt idx="0">
                  <c:v>Original renting ₹</c:v>
                </c:pt>
              </c:strCache>
            </c:strRef>
          </c:tx>
          <c:spPr>
            <a:solidFill>
              <a:srgbClr val="2A78D6"/>
            </a:solidFill>
            <a:ln w="25400" cap="flat">
              <a:solidFill>
                <a:srgbClr val="2A78D6"/>
              </a:solidFill>
              <a:prstDash val="dash,solid,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A78D6"/>
              </a:solidFill>
              <a:ln w="9525" cap="flat">
                <a:solidFill>
                  <a:srgbClr val="2A78D6"/>
                </a:solidFill>
                <a:prstDash val="solid"/>
                <a:round/>
              </a:ln>
              <a:effectLst/>
            </c:spPr>
          </c:marker>
          <c:cat>
            <c:multiLvlStrRef>
              <c:f>Sheet1!$A$2:$A$12</c:f>
              <c:multiLvlStrCache>
                <c:ptCount val="11"/>
                <c:lvl>
                  <c:pt idx="0">
                    <c:v>₹500</c:v>
                  </c:pt>
                  <c:pt idx="1">
                    <c:v>₹750</c:v>
                  </c:pt>
                  <c:pt idx="2">
                    <c:v>₹1000</c:v>
                  </c:pt>
                  <c:pt idx="3">
                    <c:v>₹1250</c:v>
                  </c:pt>
                  <c:pt idx="4">
                    <c:v>₹1500</c:v>
                  </c:pt>
                  <c:pt idx="5">
                    <c:v>₹1750</c:v>
                  </c:pt>
                  <c:pt idx="6">
                    <c:v>₹2000</c:v>
                  </c:pt>
                  <c:pt idx="7">
                    <c:v>₹2250</c:v>
                  </c:pt>
                  <c:pt idx="8">
                    <c:v>₹2500</c:v>
                  </c:pt>
                  <c:pt idx="9">
                    <c:v>₹2750</c:v>
                  </c:pt>
                  <c:pt idx="10">
                    <c:v>₹3000</c:v>
                  </c:pt>
                </c:lvl>
              </c:multiLvlStrCache>
            </c:multiLvlStrRef>
          </c:cat>
          <c:val>
            <c:numRef>
              <c:f>Sheet1!$C$2:$C$12</c:f>
              <c:numCache>
                <c:formatCode>General</c:formatCode>
                <c:ptCount val="11"/>
                <c:pt idx="0">
                  <c:v>2536.4</c:v>
                </c:pt>
                <c:pt idx="1">
                  <c:v>2536.4</c:v>
                </c:pt>
                <c:pt idx="2">
                  <c:v>2536.4</c:v>
                </c:pt>
                <c:pt idx="3">
                  <c:v>2536.4</c:v>
                </c:pt>
                <c:pt idx="4">
                  <c:v>2536.4</c:v>
                </c:pt>
                <c:pt idx="5">
                  <c:v>2536.4</c:v>
                </c:pt>
                <c:pt idx="6">
                  <c:v>2536.4</c:v>
                </c:pt>
                <c:pt idx="7">
                  <c:v>2536.4</c:v>
                </c:pt>
                <c:pt idx="8">
                  <c:v>2536.4</c:v>
                </c:pt>
                <c:pt idx="9">
                  <c:v>2536.4</c:v>
                </c:pt>
                <c:pt idx="10">
                  <c:v>2536.4</c:v>
                </c:pt>
              </c:numCache>
            </c:numRef>
          </c:val>
          <c:smooth val="0"/>
        </c:ser>
        <c:ser>
          <c:idx val="2"/>
          <c:order val="2"/>
          <c:tx>
            <c:strRef>
              <c:f>Sheet1!$D$1</c:f>
              <c:strCache>
                <c:ptCount val="1"/>
                <c:pt idx="0">
                  <c:v>Budget-guarded renting ₹</c:v>
                </c:pt>
              </c:strCache>
            </c:strRef>
          </c:tx>
          <c:spPr>
            <a:solidFill>
              <a:srgbClr val="EB6834"/>
            </a:solidFill>
            <a:ln w="25400" cap="flat">
              <a:solidFill>
                <a:srgbClr val="EB6834"/>
              </a:solidFill>
              <a:prstDash val="dash,solid,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B6834"/>
              </a:solidFill>
              <a:ln w="9525" cap="flat">
                <a:solidFill>
                  <a:srgbClr val="EB6834"/>
                </a:solidFill>
                <a:prstDash val="solid"/>
                <a:round/>
              </a:ln>
              <a:effectLst/>
            </c:spPr>
          </c:marker>
          <c:cat>
            <c:multiLvlStrRef>
              <c:f>Sheet1!$A$2:$A$12</c:f>
              <c:multiLvlStrCache>
                <c:ptCount val="11"/>
                <c:lvl>
                  <c:pt idx="0">
                    <c:v>₹500</c:v>
                  </c:pt>
                  <c:pt idx="1">
                    <c:v>₹750</c:v>
                  </c:pt>
                  <c:pt idx="2">
                    <c:v>₹1000</c:v>
                  </c:pt>
                  <c:pt idx="3">
                    <c:v>₹1250</c:v>
                  </c:pt>
                  <c:pt idx="4">
                    <c:v>₹1500</c:v>
                  </c:pt>
                  <c:pt idx="5">
                    <c:v>₹1750</c:v>
                  </c:pt>
                  <c:pt idx="6">
                    <c:v>₹2000</c:v>
                  </c:pt>
                  <c:pt idx="7">
                    <c:v>₹2250</c:v>
                  </c:pt>
                  <c:pt idx="8">
                    <c:v>₹2500</c:v>
                  </c:pt>
                  <c:pt idx="9">
                    <c:v>₹2750</c:v>
                  </c:pt>
                  <c:pt idx="10">
                    <c:v>₹3000</c:v>
                  </c:pt>
                </c:lvl>
              </c:multiLvlStrCache>
            </c:multiLvlStrRef>
          </c:cat>
          <c:val>
            <c:numRef>
              <c:f>Sheet1!$D$2:$D$12</c:f>
              <c:numCache>
                <c:formatCode>General</c:formatCode>
                <c:ptCount val="11"/>
                <c:pt idx="0">
                  <c:v>578</c:v>
                </c:pt>
                <c:pt idx="1">
                  <c:v>748</c:v>
                </c:pt>
                <c:pt idx="2">
                  <c:v>996.2</c:v>
                </c:pt>
                <c:pt idx="3">
                  <c:v>1247.8</c:v>
                </c:pt>
                <c:pt idx="4">
                  <c:v>1499.4</c:v>
                </c:pt>
                <c:pt idx="5">
                  <c:v>1747.6</c:v>
                </c:pt>
                <c:pt idx="6">
                  <c:v>1995.8</c:v>
                </c:pt>
                <c:pt idx="7">
                  <c:v>2247.4</c:v>
                </c:pt>
                <c:pt idx="8">
                  <c:v>2495.6</c:v>
                </c:pt>
                <c:pt idx="9">
                  <c:v>2536.4</c:v>
                </c:pt>
                <c:pt idx="10">
                  <c:v>2536.4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7606A"/>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E4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7606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7606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328"/>
                </a:solidFill>
                <a:latin typeface="+mn-lt"/>
              </a:defRPr>
            </a:pPr>
            <a:r>
              <a:rPr sz="1400" b="0" i="0" u="none" strike="noStrike">
                <a:solidFill>
                  <a:srgbClr val="1F2328"/>
                </a:solidFill>
                <a:latin typeface="+mn-lt"/>
              </a:rPr>
              <a:t>Average response time vs budget (s)</a:t>
            </a:r>
          </a:p>
        </c:rich>
      </c:tx>
      <c:layout/>
      <c:overlay val="0"/>
    </c:title>
    <c:autoTitleDeleted val="0"/>
    <c:plotArea>
      <c:layout/>
      <c:lineChart>
        <c:varyColors val="0"/>
        <c:ser>
          <c:idx val="0"/>
          <c:order val="0"/>
          <c:tx>
            <c:strRef>
              <c:f>Sheet1!$B$1</c:f>
              <c:strCache>
                <c:ptCount val="1"/>
                <c:pt idx="0">
                  <c:v>Target 4 s</c:v>
                </c:pt>
              </c:strCache>
            </c:strRef>
          </c:tx>
          <c:spPr>
            <a:solidFill>
              <a:srgbClr val="8A8984"/>
            </a:solidFill>
            <a:ln w="25400" cap="flat">
              <a:solidFill>
                <a:srgbClr val="8A8984"/>
              </a:solidFill>
              <a:prstDash val="dash,solid,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A8984"/>
              </a:solidFill>
              <a:ln w="9525" cap="flat">
                <a:solidFill>
                  <a:srgbClr val="8A8984"/>
                </a:solidFill>
                <a:prstDash val="solid"/>
                <a:round/>
              </a:ln>
              <a:effectLst/>
            </c:spPr>
          </c:marker>
          <c:cat>
            <c:multiLvlStrRef>
              <c:f>Sheet1!$A$2:$A$12</c:f>
              <c:multiLvlStrCache>
                <c:ptCount val="11"/>
                <c:lvl>
                  <c:pt idx="0">
                    <c:v>₹500</c:v>
                  </c:pt>
                  <c:pt idx="1">
                    <c:v>₹750</c:v>
                  </c:pt>
                  <c:pt idx="2">
                    <c:v>₹1000</c:v>
                  </c:pt>
                  <c:pt idx="3">
                    <c:v>₹1250</c:v>
                  </c:pt>
                  <c:pt idx="4">
                    <c:v>₹1500</c:v>
                  </c:pt>
                  <c:pt idx="5">
                    <c:v>₹1750</c:v>
                  </c:pt>
                  <c:pt idx="6">
                    <c:v>₹2000</c:v>
                  </c:pt>
                  <c:pt idx="7">
                    <c:v>₹2250</c:v>
                  </c:pt>
                  <c:pt idx="8">
                    <c:v>₹2500</c:v>
                  </c:pt>
                  <c:pt idx="9">
                    <c:v>₹2750</c:v>
                  </c:pt>
                  <c:pt idx="10">
                    <c:v>₹3000</c:v>
                  </c:pt>
                </c:lvl>
              </c:multiLvlStrCache>
            </c:multiLvlStrRef>
          </c:cat>
          <c:val>
            <c:numRef>
              <c:f>Sheet1!$B$2:$B$12</c:f>
              <c:numCache>
                <c:formatCode>General</c:formatCode>
                <c:ptCount val="11"/>
                <c:pt idx="0">
                  <c:v>4</c:v>
                </c:pt>
                <c:pt idx="1">
                  <c:v>4</c:v>
                </c:pt>
                <c:pt idx="2">
                  <c:v>4</c:v>
                </c:pt>
                <c:pt idx="3">
                  <c:v>4</c:v>
                </c:pt>
                <c:pt idx="4">
                  <c:v>4</c:v>
                </c:pt>
                <c:pt idx="5">
                  <c:v>4</c:v>
                </c:pt>
                <c:pt idx="6">
                  <c:v>4</c:v>
                </c:pt>
                <c:pt idx="7">
                  <c:v>4</c:v>
                </c:pt>
                <c:pt idx="8">
                  <c:v>4</c:v>
                </c:pt>
                <c:pt idx="9">
                  <c:v>4</c:v>
                </c:pt>
                <c:pt idx="10">
                  <c:v>4</c:v>
                </c:pt>
              </c:numCache>
            </c:numRef>
          </c:val>
          <c:smooth val="0"/>
        </c:ser>
        <c:ser>
          <c:idx val="1"/>
          <c:order val="1"/>
          <c:tx>
            <c:strRef>
              <c:f>Sheet1!$C$1</c:f>
              <c:strCache>
                <c:ptCount val="1"/>
                <c:pt idx="0">
                  <c:v>Original avg RT (s)</c:v>
                </c:pt>
              </c:strCache>
            </c:strRef>
          </c:tx>
          <c:spPr>
            <a:solidFill>
              <a:srgbClr val="2A78D6"/>
            </a:solidFill>
            <a:ln w="25400" cap="flat">
              <a:solidFill>
                <a:srgbClr val="2A78D6"/>
              </a:solidFill>
              <a:prstDash val="dash,solid,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A78D6"/>
              </a:solidFill>
              <a:ln w="9525" cap="flat">
                <a:solidFill>
                  <a:srgbClr val="2A78D6"/>
                </a:solidFill>
                <a:prstDash val="solid"/>
                <a:round/>
              </a:ln>
              <a:effectLst/>
            </c:spPr>
          </c:marker>
          <c:cat>
            <c:multiLvlStrRef>
              <c:f>Sheet1!$A$2:$A$12</c:f>
              <c:multiLvlStrCache>
                <c:ptCount val="11"/>
                <c:lvl>
                  <c:pt idx="0">
                    <c:v>₹500</c:v>
                  </c:pt>
                  <c:pt idx="1">
                    <c:v>₹750</c:v>
                  </c:pt>
                  <c:pt idx="2">
                    <c:v>₹1000</c:v>
                  </c:pt>
                  <c:pt idx="3">
                    <c:v>₹1250</c:v>
                  </c:pt>
                  <c:pt idx="4">
                    <c:v>₹1500</c:v>
                  </c:pt>
                  <c:pt idx="5">
                    <c:v>₹1750</c:v>
                  </c:pt>
                  <c:pt idx="6">
                    <c:v>₹2000</c:v>
                  </c:pt>
                  <c:pt idx="7">
                    <c:v>₹2250</c:v>
                  </c:pt>
                  <c:pt idx="8">
                    <c:v>₹2500</c:v>
                  </c:pt>
                  <c:pt idx="9">
                    <c:v>₹2750</c:v>
                  </c:pt>
                  <c:pt idx="10">
                    <c:v>₹3000</c:v>
                  </c:pt>
                </c:lvl>
              </c:multiLvlStrCache>
            </c:multiLvlStrRef>
          </c:cat>
          <c:val>
            <c:numRef>
              <c:f>Sheet1!$C$2:$C$12</c:f>
              <c:numCache>
                <c:formatCode>General</c:formatCode>
                <c:ptCount val="11"/>
                <c:pt idx="0">
                  <c:v>3.986</c:v>
                </c:pt>
                <c:pt idx="1">
                  <c:v>3.986</c:v>
                </c:pt>
                <c:pt idx="2">
                  <c:v>3.986</c:v>
                </c:pt>
                <c:pt idx="3">
                  <c:v>3.986</c:v>
                </c:pt>
                <c:pt idx="4">
                  <c:v>3.986</c:v>
                </c:pt>
                <c:pt idx="5">
                  <c:v>3.986</c:v>
                </c:pt>
                <c:pt idx="6">
                  <c:v>3.986</c:v>
                </c:pt>
                <c:pt idx="7">
                  <c:v>3.986</c:v>
                </c:pt>
                <c:pt idx="8">
                  <c:v>3.986</c:v>
                </c:pt>
                <c:pt idx="9">
                  <c:v>3.986</c:v>
                </c:pt>
                <c:pt idx="10">
                  <c:v>3.986</c:v>
                </c:pt>
              </c:numCache>
            </c:numRef>
          </c:val>
          <c:smooth val="0"/>
        </c:ser>
        <c:ser>
          <c:idx val="2"/>
          <c:order val="2"/>
          <c:tx>
            <c:strRef>
              <c:f>Sheet1!$D$1</c:f>
              <c:strCache>
                <c:ptCount val="1"/>
                <c:pt idx="0">
                  <c:v>Budget-guarded avg RT (s)</c:v>
                </c:pt>
              </c:strCache>
            </c:strRef>
          </c:tx>
          <c:spPr>
            <a:solidFill>
              <a:srgbClr val="EB6834"/>
            </a:solidFill>
            <a:ln w="25400" cap="flat">
              <a:solidFill>
                <a:srgbClr val="EB6834"/>
              </a:solidFill>
              <a:prstDash val="dash,solid,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B6834"/>
              </a:solidFill>
              <a:ln w="9525" cap="flat">
                <a:solidFill>
                  <a:srgbClr val="EB6834"/>
                </a:solidFill>
                <a:prstDash val="solid"/>
                <a:round/>
              </a:ln>
              <a:effectLst/>
            </c:spPr>
          </c:marker>
          <c:cat>
            <c:multiLvlStrRef>
              <c:f>Sheet1!$A$2:$A$12</c:f>
              <c:multiLvlStrCache>
                <c:ptCount val="11"/>
                <c:lvl>
                  <c:pt idx="0">
                    <c:v>₹500</c:v>
                  </c:pt>
                  <c:pt idx="1">
                    <c:v>₹750</c:v>
                  </c:pt>
                  <c:pt idx="2">
                    <c:v>₹1000</c:v>
                  </c:pt>
                  <c:pt idx="3">
                    <c:v>₹1250</c:v>
                  </c:pt>
                  <c:pt idx="4">
                    <c:v>₹1500</c:v>
                  </c:pt>
                  <c:pt idx="5">
                    <c:v>₹1750</c:v>
                  </c:pt>
                  <c:pt idx="6">
                    <c:v>₹2000</c:v>
                  </c:pt>
                  <c:pt idx="7">
                    <c:v>₹2250</c:v>
                  </c:pt>
                  <c:pt idx="8">
                    <c:v>₹2500</c:v>
                  </c:pt>
                  <c:pt idx="9">
                    <c:v>₹2750</c:v>
                  </c:pt>
                  <c:pt idx="10">
                    <c:v>₹3000</c:v>
                  </c:pt>
                </c:lvl>
              </c:multiLvlStrCache>
            </c:multiLvlStrRef>
          </c:cat>
          <c:val>
            <c:numRef>
              <c:f>Sheet1!$D$2:$D$12</c:f>
              <c:numCache>
                <c:formatCode>General</c:formatCode>
                <c:ptCount val="11"/>
                <c:pt idx="0">
                  <c:v>25.898</c:v>
                </c:pt>
                <c:pt idx="1">
                  <c:v>23.777</c:v>
                </c:pt>
                <c:pt idx="2">
                  <c:v>20.411</c:v>
                </c:pt>
                <c:pt idx="3">
                  <c:v>16.238</c:v>
                </c:pt>
                <c:pt idx="4">
                  <c:v>13.924</c:v>
                </c:pt>
                <c:pt idx="5">
                  <c:v>10.062</c:v>
                </c:pt>
                <c:pt idx="6">
                  <c:v>8.903</c:v>
                </c:pt>
                <c:pt idx="7">
                  <c:v>6.156</c:v>
                </c:pt>
                <c:pt idx="8">
                  <c:v>4.292</c:v>
                </c:pt>
                <c:pt idx="9">
                  <c:v>3.986</c:v>
                </c:pt>
                <c:pt idx="10">
                  <c:v>3.986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7606A"/>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E4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7606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7606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328"/>
                </a:solidFill>
                <a:latin typeface="+mn-lt"/>
              </a:defRPr>
            </a:pPr>
            <a:r>
              <a:rPr sz="1400" b="0" i="0" u="none" strike="noStrike">
                <a:solidFill>
                  <a:srgbClr val="1F2328"/>
                </a:solidFill>
                <a:latin typeface="+mn-lt"/>
              </a:rPr>
              <a:t>30-min-ahead MAE (requests/min, lower is better)</a:t>
            </a:r>
          </a:p>
        </c:rich>
      </c:tx>
      <c:layout/>
      <c:overlay val="0"/>
    </c:title>
    <c:autoTitleDeleted val="0"/>
    <c:plotArea>
      <c:layout/>
      <c:barChart>
        <c:barDir val="col"/>
        <c:grouping val="clustered"/>
        <c:varyColors val="0"/>
        <c:ser>
          <c:idx val="0"/>
          <c:order val="0"/>
          <c:tx>
            <c:strRef>
              <c:f>Sheet1!$B$1</c:f>
              <c:strCache>
                <c:ptCount val="1"/>
                <c:pt idx="0">
                  <c:v>Holt-Winters</c:v>
                </c:pt>
              </c:strCache>
            </c:strRef>
          </c:tx>
          <c:spPr>
            <a:solidFill>
              <a:srgbClr val="1BAF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NASA week 2</c:v>
                  </c:pt>
                  <c:pt idx="1">
                    <c:v>NASA week 3</c:v>
                  </c:pt>
                  <c:pt idx="2">
                    <c:v>NASA week 4</c:v>
                  </c:pt>
                  <c:pt idx="3">
                    <c:v>flash crowd (synth.)</c:v>
                  </c:pt>
                </c:lvl>
              </c:multiLvlStrCache>
            </c:multiLvlStrRef>
          </c:cat>
          <c:val>
            <c:numRef>
              <c:f>Sheet1!$B$2:$B$5</c:f>
              <c:numCache>
                <c:formatCode>General</c:formatCode>
                <c:ptCount val="4"/>
                <c:pt idx="0">
                  <c:v>11.424</c:v>
                </c:pt>
                <c:pt idx="1">
                  <c:v>9.609</c:v>
                </c:pt>
                <c:pt idx="2">
                  <c:v>8.341</c:v>
                </c:pt>
                <c:pt idx="3">
                  <c:v>13.469</c:v>
                </c:pt>
              </c:numCache>
            </c:numRef>
          </c:val>
        </c:ser>
        <c:ser>
          <c:idx val="1"/>
          <c:order val="1"/>
          <c:tx>
            <c:strRef>
              <c:f>Sheet1!$C$1</c:f>
              <c:strCache>
                <c:ptCount val="1"/>
                <c:pt idx="0">
                  <c:v>Last value</c:v>
                </c:pt>
              </c:strCache>
            </c:strRef>
          </c:tx>
          <c:spPr>
            <a:solidFill>
              <a:srgbClr val="2A78D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NASA week 2</c:v>
                  </c:pt>
                  <c:pt idx="1">
                    <c:v>NASA week 3</c:v>
                  </c:pt>
                  <c:pt idx="2">
                    <c:v>NASA week 4</c:v>
                  </c:pt>
                  <c:pt idx="3">
                    <c:v>flash crowd (synth.)</c:v>
                  </c:pt>
                </c:lvl>
              </c:multiLvlStrCache>
            </c:multiLvlStrRef>
          </c:cat>
          <c:val>
            <c:numRef>
              <c:f>Sheet1!$C$2:$C$5</c:f>
              <c:numCache>
                <c:formatCode>General</c:formatCode>
                <c:ptCount val="4"/>
                <c:pt idx="0">
                  <c:v>12.09</c:v>
                </c:pt>
                <c:pt idx="1">
                  <c:v>10.127</c:v>
                </c:pt>
                <c:pt idx="2">
                  <c:v>8.543</c:v>
                </c:pt>
                <c:pt idx="3">
                  <c:v>17.162</c:v>
                </c:pt>
              </c:numCache>
            </c:numRef>
          </c:val>
        </c:ser>
        <c:ser>
          <c:idx val="2"/>
          <c:order val="2"/>
          <c:tx>
            <c:strRef>
              <c:f>Sheet1!$D$1</c:f>
              <c:strCache>
                <c:ptCount val="1"/>
                <c:pt idx="0">
                  <c:v>Same time yesterday</c:v>
                </c:pt>
              </c:strCache>
            </c:strRef>
          </c:tx>
          <c:spPr>
            <a:solidFill>
              <a:srgbClr val="8A898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NASA week 2</c:v>
                  </c:pt>
                  <c:pt idx="1">
                    <c:v>NASA week 3</c:v>
                  </c:pt>
                  <c:pt idx="2">
                    <c:v>NASA week 4</c:v>
                  </c:pt>
                  <c:pt idx="3">
                    <c:v>flash crowd (synth.)</c:v>
                  </c:pt>
                </c:lvl>
              </c:multiLvlStrCache>
            </c:multiLvlStrRef>
          </c:cat>
          <c:val>
            <c:numRef>
              <c:f>Sheet1!$D$2:$D$5</c:f>
              <c:numCache>
                <c:formatCode>General</c:formatCode>
                <c:ptCount val="4"/>
                <c:pt idx="0">
                  <c:v>24.164</c:v>
                </c:pt>
                <c:pt idx="1">
                  <c:v>13.726</c:v>
                </c:pt>
                <c:pt idx="2">
                  <c:v>15.79</c:v>
                </c:pt>
                <c:pt idx="3">
                  <c:v>32.174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7606A"/>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E4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7606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7606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reproduces a published cloud simulator, AutoScaleSim, from the authors' own Java code, and then extends it with three features: a budget guard that explains its scaling decisions, a workload upload with traffic forecasting, and a deployed web dashboard. I will show what is original, what I added, how I tested it, and the honest results, including where the extensions do not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auto-scaling follows the monitor-analyse-plan-execute loop. Common policies are thresholds on CPU or delay. Three gaps motivate this project: they are blind to budget, they do not explain themselves, and they only react after load has increased. Testing ideas on a real cloud is expensive and not repeatable, so I use a simulator.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AutoScaleSim extends CloudSim with the pieces needed to host and auto-scale a web application, and it implements each MAPE phase separately. I read the source code to identify the policies: five analysers, seven planning rules, two executors and several VM-removal policies. The orange box, Plan, is where my budget guard plugs in. The cost model bills every VM per started hour, which turns out to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separation was a hard rule. The authors' sources are untouched, and every result is labelled: original, original analysed by my extension, or budget-guarded. I am also careful not to claim novelty: budget-aware scaling and forecasting are studied in the literature; what is new is integrating them with this simulator.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ran the authors' main method without changing a line. It writes three per-minute monitoring files of ten thousand rows each, and all three are byte-identical to the files the authors committed to GitHub. That is a stricter check than comparing a few averages. One honest gap: I could not download the paper PDF in my build environment, so comparing against the paper's tables is still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guard is a subclass of the original planner. It calls super first, so the original rule decides exactly as before. Then it computes committed cost with the simulator's own billing rule, compares it with a paced budget, and either keeps the decision, holds a scale-up, or removes one VM. Every decision gets one of six statuses. CONFLICT means the response-time target is missed and the budget prevents adding capacity: that is the warning the owner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point is a full seven-day simulation. On the left, the guarded renting cost follows the budget line exactly and never exceeds a feasible budget; at 500 rupees even one VM costs 578, and the guard reports infeasible instead of silently overspending. On the right is the price: response time rises steeply as the budget shrinks, and because AutoScaleSim charges SLA penalties, total cost actually goes up. This trade-off is exactly what the conflict warnings make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explanation from the two-thousand-rupee run, generated from the numbers recorded at that decision, not a template sentence. It names the trigger, the original decision, the cost arithmetic and the target, and flags the conflict. Every one of the 1008 decisions in a week has one; the dashboard filters them by status and they download as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feature lets a user upload their own traffic. The file is converted into the exact format of the NASA trace, so the original emulator replays it without modification. The forecast is Holt-Winters exponential smoothing with a daily season, chosen because it is fast and explainable. Spikes are buckets well above the recent average, and a warning fires when the forecast upper bound crosses that threshold thirty minutes ahead. Demand is converted into VMs and rupees with the simulator's own capacity and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Forecast accuracy: Holt-Winters is far better than same-time-yesterday, and better than last-value at thirty and sixty minutes on all three real weeks. The fit is burst-robust: a one-off spike of up to an hour is kept out of the trend and the daily season, so it is not predicted again tomorrow; an earlier version without this flagged every future bucket as a spike after a single burst. Spike warnings catch roughly 40 to 60 percent of real spikes with many false alarms, and a sudden synthetic flash crowd is mostly unpredictable thirty minutes ahead. Capacity estimates land within two VMs of what the simulator used. So: useful for planning, not a reliable spike oracle.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ships as one Docker container. The dashboard calls a Java API, which queues simulations and runs each one in its own JVM. Runs, metrics and uploaded workloads are stored in SQLite by default; the same code runs on PostgreSQL, which I tested. On AWS, a CloudFormation template creates one EC2 instance that builds and runs the container, and the stack only reports success after the health endpoint answers, so a green stack means a working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covers four levels. Unit tests check every branch of the decision rule and that billing matches the original ceil rule. Database and API tests run against both SQLite and a real PostgreSQL server. Integration tests run real simulations and prove the key claims: the original outputs are reproduced, observing changes nothing, and budgets are enforced. A browser test clicked through every feature with no JavaScript errors, and the Docker image was verified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honest limits. The paper-table comparison is pending. Replaying per-minute uploads is indicative, not exact. Budget pacing is linear, and a natural next step is to use the forecast to save budget for predicted peaks. And the scaling itself is simulated: the real cloud hosts the dashboard, not the web application being studied.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original simulator was reproduced exactly; the extensions sit beside it without changing it; and the results show real trade-offs rather than only improvements. I will now show the live dashboard: run the reproduction, run the budget guard at two thousand rupees and read one explanation, and upload the flash-crowd workload to show the forecast and spike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2A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000" b="1" dirty="0">
                <a:solidFill>
                  <a:srgbClr val="1B2A4A"/>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Reproduction and Extension of AutoScaleSim</a:t>
            </a:r>
            <a:endParaRPr lang="en-US" sz="4000" dirty="0"/>
          </a:p>
        </p:txBody>
      </p:sp>
      <p:sp>
        <p:nvSpPr>
          <p:cNvPr id="3" name="Text 1"/>
          <p:cNvSpPr txBox="1"/>
          <p:nvPr/>
        </p:nvSpPr>
        <p:spPr>
          <a:xfrm>
            <a:off x="731520" y="3246120"/>
            <a:ext cx="10698480" cy="54864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Budget-aware, explainable and predictive cloud auto-scaling</a:t>
            </a:r>
            <a:endParaRPr lang="en-US" sz="2200" dirty="0"/>
          </a:p>
        </p:txBody>
      </p:sp>
      <p:sp>
        <p:nvSpPr>
          <p:cNvPr id="4" name="Text 2"/>
          <p:cNvSpPr txBox="1"/>
          <p:nvPr/>
        </p:nvSpPr>
        <p:spPr>
          <a:xfrm>
            <a:off x="731520" y="4937760"/>
            <a:ext cx="10698480" cy="45720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Base paper: Aslanpour, Toosi, Taheri &amp; Gaire, "AutoScaleSim: A simulation toolkit for auto-scaling Web applications in clouds", SIMPAT, vol. 108, 2021</a:t>
            </a:r>
            <a:endParaRPr lang="en-US" sz="1400" dirty="0"/>
          </a:p>
        </p:txBody>
      </p:sp>
      <p:sp>
        <p:nvSpPr>
          <p:cNvPr id="5" name="Text 3"/>
          <p:cNvSpPr txBox="1"/>
          <p:nvPr/>
        </p:nvSpPr>
        <p:spPr>
          <a:xfrm>
            <a:off x="731520" y="5440680"/>
            <a:ext cx="10698480" cy="4572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Cloud Computing project · [Your name] · [Roll number]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B2A4A"/>
                </a:solidFill>
                <a:latin typeface="Cambria" pitchFamily="34" charset="0"/>
                <a:ea typeface="Cambria" pitchFamily="34" charset="-122"/>
                <a:cs typeface="Cambria" pitchFamily="34" charset="-120"/>
              </a:rPr>
              <a:t>The problem: auto-scalers ignore budgets and never explain</a:t>
            </a:r>
            <a:endParaRPr lang="en-US" sz="3000" dirty="0"/>
          </a:p>
        </p:txBody>
      </p:sp>
      <p:sp>
        <p:nvSpPr>
          <p:cNvPr id="3" name="Shape 1"/>
          <p:cNvSpPr/>
          <p:nvPr/>
        </p:nvSpPr>
        <p:spPr>
          <a:xfrm>
            <a:off x="640080" y="1463040"/>
            <a:ext cx="502920" cy="502920"/>
          </a:xfrm>
          <a:prstGeom prst="ellipse">
            <a:avLst/>
          </a:prstGeom>
          <a:solidFill>
            <a:srgbClr val="EB6834"/>
          </a:solidFill>
          <a:ln w="12700">
            <a:solidFill>
              <a:srgbClr val="EB6834"/>
            </a:solidFill>
            <a:prstDash val="solid"/>
          </a:ln>
        </p:spPr>
      </p:sp>
      <p:sp>
        <p:nvSpPr>
          <p:cNvPr id="4" name="Text 2"/>
          <p:cNvSpPr txBox="1"/>
          <p:nvPr/>
        </p:nvSpPr>
        <p:spPr>
          <a:xfrm>
            <a:off x="640080" y="1463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Text 3"/>
          <p:cNvSpPr txBox="1"/>
          <p:nvPr/>
        </p:nvSpPr>
        <p:spPr>
          <a:xfrm>
            <a:off x="1371600" y="1417320"/>
            <a:ext cx="9875520" cy="457200"/>
          </a:xfrm>
          <a:prstGeom prst="rect">
            <a:avLst/>
          </a:prstGeom>
          <a:noFill/>
          <a:ln/>
        </p:spPr>
        <p:txBody>
          <a:bodyPr wrap="square" lIns="0" tIns="0" rIns="0" bIns="0" rtlCol="0" anchor="t"/>
          <a:lstStyle/>
          <a:p>
            <a:pPr indent="0" marL="0">
              <a:buNone/>
            </a:pPr>
            <a:r>
              <a:rPr lang="en-US" sz="2000" b="1" dirty="0">
                <a:solidFill>
                  <a:srgbClr val="1B2A4A"/>
                </a:solidFill>
                <a:latin typeface="Calibri" pitchFamily="34" charset="0"/>
                <a:ea typeface="Calibri" pitchFamily="34" charset="-122"/>
                <a:cs typeface="Calibri" pitchFamily="34" charset="-120"/>
              </a:rPr>
              <a:t>Rule-based auto-scalers react to CPU or latency only</a:t>
            </a:r>
            <a:endParaRPr lang="en-US" sz="2000" dirty="0"/>
          </a:p>
        </p:txBody>
      </p:sp>
      <p:sp>
        <p:nvSpPr>
          <p:cNvPr id="6" name="Text 4"/>
          <p:cNvSpPr txBox="1"/>
          <p:nvPr/>
        </p:nvSpPr>
        <p:spPr>
          <a:xfrm>
            <a:off x="1371600" y="1874520"/>
            <a:ext cx="9875520" cy="731520"/>
          </a:xfrm>
          <a:prstGeom prst="rect">
            <a:avLst/>
          </a:prstGeom>
          <a:noFill/>
          <a:ln/>
        </p:spPr>
        <p:txBody>
          <a:bodyPr wrap="square" lIns="0" tIns="0" rIns="0" bIns="0" rtlCol="0" anchor="t"/>
          <a:lstStyle/>
          <a:p>
            <a:pPr indent="0" marL="0">
              <a:buNone/>
            </a:pPr>
            <a:r>
              <a:rPr lang="en-US" sz="1600" dirty="0">
                <a:solidFill>
                  <a:srgbClr val="57606A"/>
                </a:solidFill>
                <a:latin typeface="Calibri" pitchFamily="34" charset="0"/>
                <a:ea typeface="Calibri" pitchFamily="34" charset="-122"/>
                <a:cs typeface="Calibri" pitchFamily="34" charset="-120"/>
              </a:rPr>
              <a:t>They add VMs whenever latency is high, whatever it costs. Owners with a fixed allowance cannot say "stay within ₹2000 this week".</a:t>
            </a:r>
            <a:endParaRPr lang="en-US" sz="1600" dirty="0"/>
          </a:p>
        </p:txBody>
      </p:sp>
      <p:sp>
        <p:nvSpPr>
          <p:cNvPr id="7" name="Shape 5"/>
          <p:cNvSpPr/>
          <p:nvPr/>
        </p:nvSpPr>
        <p:spPr>
          <a:xfrm>
            <a:off x="640080" y="2971800"/>
            <a:ext cx="502920" cy="502920"/>
          </a:xfrm>
          <a:prstGeom prst="ellipse">
            <a:avLst/>
          </a:prstGeom>
          <a:solidFill>
            <a:srgbClr val="EB6834"/>
          </a:solidFill>
          <a:ln w="12700">
            <a:solidFill>
              <a:srgbClr val="EB6834"/>
            </a:solidFill>
            <a:prstDash val="solid"/>
          </a:ln>
        </p:spPr>
      </p:sp>
      <p:sp>
        <p:nvSpPr>
          <p:cNvPr id="8" name="Text 6"/>
          <p:cNvSpPr txBox="1"/>
          <p:nvPr/>
        </p:nvSpPr>
        <p:spPr>
          <a:xfrm>
            <a:off x="640080" y="2971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txBox="1"/>
          <p:nvPr/>
        </p:nvSpPr>
        <p:spPr>
          <a:xfrm>
            <a:off x="1371600" y="2926080"/>
            <a:ext cx="9875520" cy="457200"/>
          </a:xfrm>
          <a:prstGeom prst="rect">
            <a:avLst/>
          </a:prstGeom>
          <a:noFill/>
          <a:ln/>
        </p:spPr>
        <p:txBody>
          <a:bodyPr wrap="square" lIns="0" tIns="0" rIns="0" bIns="0" rtlCol="0" anchor="t"/>
          <a:lstStyle/>
          <a:p>
            <a:pPr indent="0" marL="0">
              <a:buNone/>
            </a:pPr>
            <a:r>
              <a:rPr lang="en-US" sz="2000" b="1" dirty="0">
                <a:solidFill>
                  <a:srgbClr val="1B2A4A"/>
                </a:solidFill>
                <a:latin typeface="Calibri" pitchFamily="34" charset="0"/>
                <a:ea typeface="Calibri" pitchFamily="34" charset="-122"/>
                <a:cs typeface="Calibri" pitchFamily="34" charset="-120"/>
              </a:rPr>
              <a:t>Decisions are opaque</a:t>
            </a:r>
            <a:endParaRPr lang="en-US" sz="2000" dirty="0"/>
          </a:p>
        </p:txBody>
      </p:sp>
      <p:sp>
        <p:nvSpPr>
          <p:cNvPr id="10" name="Text 8"/>
          <p:cNvSpPr txBox="1"/>
          <p:nvPr/>
        </p:nvSpPr>
        <p:spPr>
          <a:xfrm>
            <a:off x="1371600" y="3383280"/>
            <a:ext cx="9875520" cy="731520"/>
          </a:xfrm>
          <a:prstGeom prst="rect">
            <a:avLst/>
          </a:prstGeom>
          <a:noFill/>
          <a:ln/>
        </p:spPr>
        <p:txBody>
          <a:bodyPr wrap="square" lIns="0" tIns="0" rIns="0" bIns="0" rtlCol="0" anchor="t"/>
          <a:lstStyle/>
          <a:p>
            <a:pPr indent="0" marL="0">
              <a:buNone/>
            </a:pPr>
            <a:r>
              <a:rPr lang="en-US" sz="1600" dirty="0">
                <a:solidFill>
                  <a:srgbClr val="57606A"/>
                </a:solidFill>
                <a:latin typeface="Calibri" pitchFamily="34" charset="0"/>
                <a:ea typeface="Calibri" pitchFamily="34" charset="-122"/>
                <a:cs typeface="Calibri" pitchFamily="34" charset="-120"/>
              </a:rPr>
              <a:t>A log line says SCALE_UP, but not why, or what it cost, or what was traded away.</a:t>
            </a:r>
            <a:endParaRPr lang="en-US" sz="1600" dirty="0"/>
          </a:p>
        </p:txBody>
      </p:sp>
      <p:sp>
        <p:nvSpPr>
          <p:cNvPr id="11" name="Shape 9"/>
          <p:cNvSpPr/>
          <p:nvPr/>
        </p:nvSpPr>
        <p:spPr>
          <a:xfrm>
            <a:off x="640080" y="4480560"/>
            <a:ext cx="502920" cy="502920"/>
          </a:xfrm>
          <a:prstGeom prst="ellipse">
            <a:avLst/>
          </a:prstGeom>
          <a:solidFill>
            <a:srgbClr val="1BAF7A"/>
          </a:solidFill>
          <a:ln w="12700">
            <a:solidFill>
              <a:srgbClr val="1BAF7A"/>
            </a:solidFill>
            <a:prstDash val="solid"/>
          </a:ln>
        </p:spPr>
      </p:sp>
      <p:sp>
        <p:nvSpPr>
          <p:cNvPr id="12" name="Text 10"/>
          <p:cNvSpPr txBox="1"/>
          <p:nvPr/>
        </p:nvSpPr>
        <p:spPr>
          <a:xfrm>
            <a:off x="640080" y="44805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1"/>
          <p:cNvSpPr txBox="1"/>
          <p:nvPr/>
        </p:nvSpPr>
        <p:spPr>
          <a:xfrm>
            <a:off x="1371600" y="4434840"/>
            <a:ext cx="9875520" cy="457200"/>
          </a:xfrm>
          <a:prstGeom prst="rect">
            <a:avLst/>
          </a:prstGeom>
          <a:noFill/>
          <a:ln/>
        </p:spPr>
        <p:txBody>
          <a:bodyPr wrap="square" lIns="0" tIns="0" rIns="0" bIns="0" rtlCol="0" anchor="t"/>
          <a:lstStyle/>
          <a:p>
            <a:pPr indent="0" marL="0">
              <a:buNone/>
            </a:pPr>
            <a:r>
              <a:rPr lang="en-US" sz="2000" b="1" dirty="0">
                <a:solidFill>
                  <a:srgbClr val="1B2A4A"/>
                </a:solidFill>
                <a:latin typeface="Calibri" pitchFamily="34" charset="0"/>
                <a:ea typeface="Calibri" pitchFamily="34" charset="-122"/>
                <a:cs typeface="Calibri" pitchFamily="34" charset="-120"/>
              </a:rPr>
              <a:t>Traffic spikes arrive before capacity does</a:t>
            </a:r>
            <a:endParaRPr lang="en-US" sz="2000" dirty="0"/>
          </a:p>
        </p:txBody>
      </p:sp>
      <p:sp>
        <p:nvSpPr>
          <p:cNvPr id="14" name="Text 12"/>
          <p:cNvSpPr txBox="1"/>
          <p:nvPr/>
        </p:nvSpPr>
        <p:spPr>
          <a:xfrm>
            <a:off x="1371600" y="4892040"/>
            <a:ext cx="9875520" cy="731520"/>
          </a:xfrm>
          <a:prstGeom prst="rect">
            <a:avLst/>
          </a:prstGeom>
          <a:noFill/>
          <a:ln/>
        </p:spPr>
        <p:txBody>
          <a:bodyPr wrap="square" lIns="0" tIns="0" rIns="0" bIns="0" rtlCol="0" anchor="t"/>
          <a:lstStyle/>
          <a:p>
            <a:pPr indent="0" marL="0">
              <a:buNone/>
            </a:pPr>
            <a:r>
              <a:rPr lang="en-US" sz="1600" dirty="0">
                <a:solidFill>
                  <a:srgbClr val="57606A"/>
                </a:solidFill>
                <a:latin typeface="Calibri" pitchFamily="34" charset="0"/>
                <a:ea typeface="Calibri" pitchFamily="34" charset="-122"/>
                <a:cs typeface="Calibri" pitchFamily="34" charset="-120"/>
              </a:rPr>
              <a:t>A new VM takes minutes to start; reacting only after a spike is too late.</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B2A4A"/>
                </a:solidFill>
                <a:latin typeface="Cambria" pitchFamily="34" charset="0"/>
                <a:ea typeface="Cambria" pitchFamily="34" charset="-122"/>
                <a:cs typeface="Cambria" pitchFamily="34" charset="-120"/>
              </a:rPr>
              <a:t>Base: AutoScaleSim, a CloudSim toolkit for Web-app auto-scaling</a:t>
            </a:r>
            <a:endParaRPr lang="en-US" sz="3000" dirty="0"/>
          </a:p>
        </p:txBody>
      </p:sp>
      <p:sp>
        <p:nvSpPr>
          <p:cNvPr id="3" name="Shape 1"/>
          <p:cNvSpPr/>
          <p:nvPr/>
        </p:nvSpPr>
        <p:spPr>
          <a:xfrm>
            <a:off x="548640" y="1463040"/>
            <a:ext cx="2560320" cy="2011680"/>
          </a:xfrm>
          <a:prstGeom prst="roundRect">
            <a:avLst>
              <a:gd name="adj" fmla="val 5455"/>
            </a:avLst>
          </a:prstGeom>
          <a:solidFill>
            <a:srgbClr val="F3F6FB"/>
          </a:solidFill>
          <a:ln w="12700">
            <a:solidFill>
              <a:srgbClr val="F3F6FB"/>
            </a:solidFill>
            <a:prstDash val="solid"/>
          </a:ln>
        </p:spPr>
      </p:sp>
      <p:sp>
        <p:nvSpPr>
          <p:cNvPr id="4" name="Text 2"/>
          <p:cNvSpPr txBox="1"/>
          <p:nvPr/>
        </p:nvSpPr>
        <p:spPr>
          <a:xfrm>
            <a:off x="777240" y="1645920"/>
            <a:ext cx="2103120" cy="457200"/>
          </a:xfrm>
          <a:prstGeom prst="rect">
            <a:avLst/>
          </a:prstGeom>
          <a:noFill/>
          <a:ln/>
        </p:spPr>
        <p:txBody>
          <a:bodyPr wrap="square" lIns="0" tIns="0" rIns="0" bIns="0" rtlCol="0" anchor="t"/>
          <a:lstStyle/>
          <a:p>
            <a:pPr indent="0" marL="0">
              <a:buNone/>
            </a:pPr>
            <a:r>
              <a:rPr lang="en-US" sz="2000" b="1" dirty="0">
                <a:solidFill>
                  <a:srgbClr val="2A78D6"/>
                </a:solidFill>
                <a:latin typeface="Calibri" pitchFamily="34" charset="0"/>
                <a:ea typeface="Calibri" pitchFamily="34" charset="-122"/>
                <a:cs typeface="Calibri" pitchFamily="34" charset="-120"/>
              </a:rPr>
              <a:t>Monitor</a:t>
            </a:r>
            <a:endParaRPr lang="en-US" sz="2000" dirty="0"/>
          </a:p>
        </p:txBody>
      </p:sp>
      <p:sp>
        <p:nvSpPr>
          <p:cNvPr id="5" name="Text 3"/>
          <p:cNvSpPr txBox="1"/>
          <p:nvPr/>
        </p:nvSpPr>
        <p:spPr>
          <a:xfrm>
            <a:off x="777240" y="2148840"/>
            <a:ext cx="2103120" cy="118872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CPU, delay, response time, SLA, every minute</a:t>
            </a:r>
            <a:endParaRPr lang="en-US" sz="1500" dirty="0"/>
          </a:p>
        </p:txBody>
      </p:sp>
      <p:sp>
        <p:nvSpPr>
          <p:cNvPr id="6" name="Shape 4"/>
          <p:cNvSpPr/>
          <p:nvPr/>
        </p:nvSpPr>
        <p:spPr>
          <a:xfrm rot="5400000">
            <a:off x="3154680" y="2331720"/>
            <a:ext cx="182880" cy="274320"/>
          </a:xfrm>
          <a:prstGeom prst="rtTriangle">
            <a:avLst/>
          </a:prstGeom>
          <a:solidFill>
            <a:srgbClr val="8A8984"/>
          </a:solidFill>
          <a:ln w="12700">
            <a:solidFill>
              <a:srgbClr val="8A8984"/>
            </a:solidFill>
            <a:prstDash val="solid"/>
          </a:ln>
        </p:spPr>
      </p:sp>
      <p:sp>
        <p:nvSpPr>
          <p:cNvPr id="7" name="Shape 5"/>
          <p:cNvSpPr/>
          <p:nvPr/>
        </p:nvSpPr>
        <p:spPr>
          <a:xfrm>
            <a:off x="3383280" y="1463040"/>
            <a:ext cx="2560320" cy="2011680"/>
          </a:xfrm>
          <a:prstGeom prst="roundRect">
            <a:avLst>
              <a:gd name="adj" fmla="val 5455"/>
            </a:avLst>
          </a:prstGeom>
          <a:solidFill>
            <a:srgbClr val="F3F6FB"/>
          </a:solidFill>
          <a:ln w="12700">
            <a:solidFill>
              <a:srgbClr val="F3F6FB"/>
            </a:solidFill>
            <a:prstDash val="solid"/>
          </a:ln>
        </p:spPr>
      </p:sp>
      <p:sp>
        <p:nvSpPr>
          <p:cNvPr id="8" name="Text 6"/>
          <p:cNvSpPr txBox="1"/>
          <p:nvPr/>
        </p:nvSpPr>
        <p:spPr>
          <a:xfrm>
            <a:off x="3611880" y="1645920"/>
            <a:ext cx="2103120" cy="457200"/>
          </a:xfrm>
          <a:prstGeom prst="rect">
            <a:avLst/>
          </a:prstGeom>
          <a:noFill/>
          <a:ln/>
        </p:spPr>
        <p:txBody>
          <a:bodyPr wrap="square" lIns="0" tIns="0" rIns="0" bIns="0" rtlCol="0" anchor="t"/>
          <a:lstStyle/>
          <a:p>
            <a:pPr indent="0" marL="0">
              <a:buNone/>
            </a:pPr>
            <a:r>
              <a:rPr lang="en-US" sz="2000" b="1" dirty="0">
                <a:solidFill>
                  <a:srgbClr val="2A78D6"/>
                </a:solidFill>
                <a:latin typeface="Calibri" pitchFamily="34" charset="0"/>
                <a:ea typeface="Calibri" pitchFamily="34" charset="-122"/>
                <a:cs typeface="Calibri" pitchFamily="34" charset="-120"/>
              </a:rPr>
              <a:t>Analyse</a:t>
            </a:r>
            <a:endParaRPr lang="en-US" sz="2000" dirty="0"/>
          </a:p>
        </p:txBody>
      </p:sp>
      <p:sp>
        <p:nvSpPr>
          <p:cNvPr id="9" name="Text 7"/>
          <p:cNvSpPr txBox="1"/>
          <p:nvPr/>
        </p:nvSpPr>
        <p:spPr>
          <a:xfrm>
            <a:off x="3611880" y="2148840"/>
            <a:ext cx="2103120" cy="118872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Simple, moving averages, exponential smoothing</a:t>
            </a:r>
            <a:endParaRPr lang="en-US" sz="1500" dirty="0"/>
          </a:p>
        </p:txBody>
      </p:sp>
      <p:sp>
        <p:nvSpPr>
          <p:cNvPr id="10" name="Shape 8"/>
          <p:cNvSpPr/>
          <p:nvPr/>
        </p:nvSpPr>
        <p:spPr>
          <a:xfrm rot="5400000">
            <a:off x="5989320" y="2331720"/>
            <a:ext cx="182880" cy="274320"/>
          </a:xfrm>
          <a:prstGeom prst="rtTriangle">
            <a:avLst/>
          </a:prstGeom>
          <a:solidFill>
            <a:srgbClr val="8A8984"/>
          </a:solidFill>
          <a:ln w="12700">
            <a:solidFill>
              <a:srgbClr val="8A8984"/>
            </a:solidFill>
            <a:prstDash val="solid"/>
          </a:ln>
        </p:spPr>
      </p:sp>
      <p:sp>
        <p:nvSpPr>
          <p:cNvPr id="11" name="Shape 9"/>
          <p:cNvSpPr/>
          <p:nvPr/>
        </p:nvSpPr>
        <p:spPr>
          <a:xfrm>
            <a:off x="6217920" y="1463040"/>
            <a:ext cx="2560320" cy="2011680"/>
          </a:xfrm>
          <a:prstGeom prst="roundRect">
            <a:avLst>
              <a:gd name="adj" fmla="val 5455"/>
            </a:avLst>
          </a:prstGeom>
          <a:solidFill>
            <a:srgbClr val="FDEEE6"/>
          </a:solidFill>
          <a:ln w="12700">
            <a:solidFill>
              <a:srgbClr val="FDEEE6"/>
            </a:solidFill>
            <a:prstDash val="solid"/>
          </a:ln>
        </p:spPr>
      </p:sp>
      <p:sp>
        <p:nvSpPr>
          <p:cNvPr id="12" name="Text 10"/>
          <p:cNvSpPr txBox="1"/>
          <p:nvPr/>
        </p:nvSpPr>
        <p:spPr>
          <a:xfrm>
            <a:off x="6446520" y="1645920"/>
            <a:ext cx="2103120" cy="457200"/>
          </a:xfrm>
          <a:prstGeom prst="rect">
            <a:avLst/>
          </a:prstGeom>
          <a:noFill/>
          <a:ln/>
        </p:spPr>
        <p:txBody>
          <a:bodyPr wrap="square" lIns="0" tIns="0" rIns="0" bIns="0" rtlCol="0" anchor="t"/>
          <a:lstStyle/>
          <a:p>
            <a:pPr indent="0" marL="0">
              <a:buNone/>
            </a:pPr>
            <a:r>
              <a:rPr lang="en-US" sz="2000" b="1" dirty="0">
                <a:solidFill>
                  <a:srgbClr val="EB6834"/>
                </a:solidFill>
                <a:latin typeface="Calibri" pitchFamily="34" charset="0"/>
                <a:ea typeface="Calibri" pitchFamily="34" charset="-122"/>
                <a:cs typeface="Calibri" pitchFamily="34" charset="-120"/>
              </a:rPr>
              <a:t>Plan</a:t>
            </a:r>
            <a:endParaRPr lang="en-US" sz="2000" dirty="0"/>
          </a:p>
        </p:txBody>
      </p:sp>
      <p:sp>
        <p:nvSpPr>
          <p:cNvPr id="13" name="Text 11"/>
          <p:cNvSpPr txBox="1"/>
          <p:nvPr/>
        </p:nvSpPr>
        <p:spPr>
          <a:xfrm>
            <a:off x="6446520" y="2148840"/>
            <a:ext cx="2103120" cy="118872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7 rules: resource-, SLA-aware, hybrid, alarms</a:t>
            </a:r>
            <a:endParaRPr lang="en-US" sz="1500" dirty="0"/>
          </a:p>
        </p:txBody>
      </p:sp>
      <p:sp>
        <p:nvSpPr>
          <p:cNvPr id="14" name="Shape 12"/>
          <p:cNvSpPr/>
          <p:nvPr/>
        </p:nvSpPr>
        <p:spPr>
          <a:xfrm rot="5400000">
            <a:off x="8823960" y="2331720"/>
            <a:ext cx="182880" cy="274320"/>
          </a:xfrm>
          <a:prstGeom prst="rtTriangle">
            <a:avLst/>
          </a:prstGeom>
          <a:solidFill>
            <a:srgbClr val="8A8984"/>
          </a:solidFill>
          <a:ln w="12700">
            <a:solidFill>
              <a:srgbClr val="8A8984"/>
            </a:solidFill>
            <a:prstDash val="solid"/>
          </a:ln>
        </p:spPr>
      </p:sp>
      <p:sp>
        <p:nvSpPr>
          <p:cNvPr id="15" name="Shape 13"/>
          <p:cNvSpPr/>
          <p:nvPr/>
        </p:nvSpPr>
        <p:spPr>
          <a:xfrm>
            <a:off x="9052560" y="1463040"/>
            <a:ext cx="2560320" cy="2011680"/>
          </a:xfrm>
          <a:prstGeom prst="roundRect">
            <a:avLst>
              <a:gd name="adj" fmla="val 5455"/>
            </a:avLst>
          </a:prstGeom>
          <a:solidFill>
            <a:srgbClr val="F3F6FB"/>
          </a:solidFill>
          <a:ln w="12700">
            <a:solidFill>
              <a:srgbClr val="F3F6FB"/>
            </a:solidFill>
            <a:prstDash val="solid"/>
          </a:ln>
        </p:spPr>
      </p:sp>
      <p:sp>
        <p:nvSpPr>
          <p:cNvPr id="16" name="Text 14"/>
          <p:cNvSpPr txBox="1"/>
          <p:nvPr/>
        </p:nvSpPr>
        <p:spPr>
          <a:xfrm>
            <a:off x="9281160" y="1645920"/>
            <a:ext cx="2103120" cy="457200"/>
          </a:xfrm>
          <a:prstGeom prst="rect">
            <a:avLst/>
          </a:prstGeom>
          <a:noFill/>
          <a:ln/>
        </p:spPr>
        <p:txBody>
          <a:bodyPr wrap="square" lIns="0" tIns="0" rIns="0" bIns="0" rtlCol="0" anchor="t"/>
          <a:lstStyle/>
          <a:p>
            <a:pPr indent="0" marL="0">
              <a:buNone/>
            </a:pPr>
            <a:r>
              <a:rPr lang="en-US" sz="2000" b="1" dirty="0">
                <a:solidFill>
                  <a:srgbClr val="2A78D6"/>
                </a:solidFill>
                <a:latin typeface="Calibri" pitchFamily="34" charset="0"/>
                <a:ea typeface="Calibri" pitchFamily="34" charset="-122"/>
                <a:cs typeface="Calibri" pitchFamily="34" charset="-120"/>
              </a:rPr>
              <a:t>Execute</a:t>
            </a:r>
            <a:endParaRPr lang="en-US" sz="2000" dirty="0"/>
          </a:p>
        </p:txBody>
      </p:sp>
      <p:sp>
        <p:nvSpPr>
          <p:cNvPr id="17" name="Text 15"/>
          <p:cNvSpPr txBox="1"/>
          <p:nvPr/>
        </p:nvSpPr>
        <p:spPr>
          <a:xfrm>
            <a:off x="9281160" y="2148840"/>
            <a:ext cx="2103120" cy="118872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Add or remove VMs; 5-min start-up; oldest-VM removal</a:t>
            </a:r>
            <a:endParaRPr lang="en-US" sz="1500" dirty="0"/>
          </a:p>
        </p:txBody>
      </p:sp>
      <p:sp>
        <p:nvSpPr>
          <p:cNvPr id="18" name="Text 16"/>
          <p:cNvSpPr txBox="1"/>
          <p:nvPr/>
        </p:nvSpPr>
        <p:spPr>
          <a:xfrm>
            <a:off x="548640" y="3931920"/>
            <a:ext cx="11064240" cy="822960"/>
          </a:xfrm>
          <a:prstGeom prst="rect">
            <a:avLst/>
          </a:prstGeom>
          <a:noFill/>
          <a:ln/>
        </p:spPr>
        <p:txBody>
          <a:bodyPr wrap="square" lIns="0" tIns="0" rIns="0" bIns="0" rtlCol="0" anchor="t"/>
          <a:lstStyle/>
          <a:p>
            <a:pPr indent="0" marL="0">
              <a:buNone/>
            </a:pPr>
            <a:r>
              <a:rPr lang="en-US" sz="1600" b="1" dirty="0">
                <a:solidFill>
                  <a:srgbClr val="1F2328"/>
                </a:solidFill>
                <a:latin typeface="Calibri" pitchFamily="34" charset="0"/>
                <a:ea typeface="Calibri" pitchFamily="34" charset="-122"/>
                <a:cs typeface="Calibri" pitchFamily="34" charset="-120"/>
              </a:rPr>
              <a:t>Default experiment: </a:t>
            </a:r>
            <a:pPr indent="0" marL="0">
              <a:buNone/>
            </a:pPr>
            <a:r>
              <a:rPr lang="en-US" sz="1600" dirty="0">
                <a:solidFill>
                  <a:srgbClr val="1F2328"/>
                </a:solidFill>
                <a:latin typeface="Calibri" pitchFamily="34" charset="0"/>
                <a:ea typeface="Calibri" pitchFamily="34" charset="-122"/>
                <a:cs typeface="Calibri" pitchFamily="34" charset="-120"/>
              </a:rPr>
              <a:t>NASA Web trace (July 1995), 7 days, 2 initial VMs, scale every 10 min, SLA-aware rule (up if delay &gt; 1 s, down if &lt; 0.2 s), t2.medium at US$0.04/h, 1–40 VMs.</a:t>
            </a:r>
            <a:endParaRPr lang="en-US" sz="1600" dirty="0"/>
          </a:p>
        </p:txBody>
      </p:sp>
      <p:sp>
        <p:nvSpPr>
          <p:cNvPr id="19" name="Text 17"/>
          <p:cNvSpPr txBox="1"/>
          <p:nvPr/>
        </p:nvSpPr>
        <p:spPr>
          <a:xfrm>
            <a:off x="548640" y="4800600"/>
            <a:ext cx="11064240" cy="822960"/>
          </a:xfrm>
          <a:prstGeom prst="rect">
            <a:avLst/>
          </a:prstGeom>
          <a:noFill/>
          <a:ln/>
        </p:spPr>
        <p:txBody>
          <a:bodyPr wrap="square" lIns="0" tIns="0" rIns="0" bIns="0" rtlCol="0" anchor="t"/>
          <a:lstStyle/>
          <a:p>
            <a:pPr indent="0" marL="0">
              <a:buNone/>
            </a:pPr>
            <a:r>
              <a:rPr lang="en-US" sz="1600" b="1" dirty="0">
                <a:solidFill>
                  <a:srgbClr val="1F2328"/>
                </a:solidFill>
                <a:latin typeface="Calibri" pitchFamily="34" charset="0"/>
                <a:ea typeface="Calibri" pitchFamily="34" charset="-122"/>
                <a:cs typeface="Calibri" pitchFamily="34" charset="-120"/>
              </a:rPr>
              <a:t>Cost model: </a:t>
            </a:r>
            <a:pPr indent="0" marL="0">
              <a:buNone/>
            </a:pPr>
            <a:r>
              <a:rPr lang="en-US" sz="1600" dirty="0">
                <a:solidFill>
                  <a:srgbClr val="1F2328"/>
                </a:solidFill>
                <a:latin typeface="Calibri" pitchFamily="34" charset="0"/>
                <a:ea typeface="Calibri" pitchFamily="34" charset="-122"/>
                <a:cs typeface="Calibri" pitchFamily="34" charset="-120"/>
              </a:rPr>
              <a:t>every VM billed ceil(hours alive) × price; SLA penalty per violated hour. The extension reuses this exact rule.</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B2A4A"/>
                </a:solidFill>
                <a:latin typeface="Cambria" pitchFamily="34" charset="0"/>
                <a:ea typeface="Cambria" pitchFamily="34" charset="-122"/>
                <a:cs typeface="Cambria" pitchFamily="34" charset="-120"/>
              </a:rPr>
              <a:t>Original work stays separate from my additions</a:t>
            </a:r>
            <a:endParaRPr lang="en-US" sz="3000" dirty="0"/>
          </a:p>
        </p:txBody>
      </p:sp>
      <p:sp>
        <p:nvSpPr>
          <p:cNvPr id="3" name="Shape 1"/>
          <p:cNvSpPr/>
          <p:nvPr/>
        </p:nvSpPr>
        <p:spPr>
          <a:xfrm>
            <a:off x="548640" y="1371600"/>
            <a:ext cx="5394960" cy="4480560"/>
          </a:xfrm>
          <a:prstGeom prst="roundRect">
            <a:avLst>
              <a:gd name="adj" fmla="val 2449"/>
            </a:avLst>
          </a:prstGeom>
          <a:solidFill>
            <a:srgbClr val="EAF2FC"/>
          </a:solidFill>
          <a:ln w="12700">
            <a:solidFill>
              <a:srgbClr val="EAF2FC"/>
            </a:solidFill>
            <a:prstDash val="solid"/>
          </a:ln>
        </p:spPr>
      </p:sp>
      <p:sp>
        <p:nvSpPr>
          <p:cNvPr id="4" name="Text 2"/>
          <p:cNvSpPr txBox="1"/>
          <p:nvPr/>
        </p:nvSpPr>
        <p:spPr>
          <a:xfrm>
            <a:off x="822960" y="1554480"/>
            <a:ext cx="4846320" cy="457200"/>
          </a:xfrm>
          <a:prstGeom prst="rect">
            <a:avLst/>
          </a:prstGeom>
          <a:noFill/>
          <a:ln/>
        </p:spPr>
        <p:txBody>
          <a:bodyPr wrap="square" lIns="0" tIns="0" rIns="0" bIns="0" rtlCol="0" anchor="t"/>
          <a:lstStyle/>
          <a:p>
            <a:pPr indent="0" marL="0">
              <a:buNone/>
            </a:pPr>
            <a:r>
              <a:rPr lang="en-US" sz="2000" b="1" dirty="0">
                <a:solidFill>
                  <a:srgbClr val="2A78D6"/>
                </a:solidFill>
                <a:latin typeface="Calibri" pitchFamily="34" charset="0"/>
                <a:ea typeface="Calibri" pitchFamily="34" charset="-122"/>
                <a:cs typeface="Calibri" pitchFamily="34" charset="-120"/>
              </a:rPr>
              <a:t>Original (Aslanpour et al.)</a:t>
            </a:r>
            <a:endParaRPr lang="en-US" sz="2000" dirty="0"/>
          </a:p>
        </p:txBody>
      </p:sp>
      <p:sp>
        <p:nvSpPr>
          <p:cNvPr id="5" name="Text 3"/>
          <p:cNvSpPr txBox="1"/>
          <p:nvPr/>
        </p:nvSpPr>
        <p:spPr>
          <a:xfrm>
            <a:off x="822960" y="2148840"/>
            <a:ext cx="4846320" cy="32918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328"/>
                </a:solidFill>
                <a:latin typeface="Calibri" pitchFamily="34" charset="0"/>
                <a:ea typeface="Calibri" pitchFamily="34" charset="-122"/>
                <a:cs typeface="Calibri" pitchFamily="34" charset="-120"/>
              </a:rPr>
              <a:t>Simulator, MAPE components, rules, executors</a:t>
            </a:r>
            <a:endParaRPr lang="en-US" sz="1600" dirty="0"/>
          </a:p>
          <a:p>
            <a:pPr marL="342900" indent="-342900">
              <a:spcAft>
                <a:spcPts val="1000"/>
              </a:spcAft>
              <a:buSzPct val="100000"/>
              <a:buChar char="•"/>
            </a:pPr>
            <a:r>
              <a:rPr lang="en-US" sz="1600" dirty="0">
                <a:solidFill>
                  <a:srgbClr val="1F2328"/>
                </a:solidFill>
                <a:latin typeface="Calibri" pitchFamily="34" charset="0"/>
                <a:ea typeface="Calibri" pitchFamily="34" charset="-122"/>
                <a:cs typeface="Calibri" pitchFamily="34" charset="-120"/>
              </a:rPr>
              <a:t>Cost and SLA metrics, end-of-run report</a:t>
            </a:r>
            <a:endParaRPr lang="en-US" sz="1600" dirty="0"/>
          </a:p>
          <a:p>
            <a:pPr marL="342900" indent="-342900">
              <a:spcAft>
                <a:spcPts val="1000"/>
              </a:spcAft>
              <a:buSzPct val="100000"/>
              <a:buChar char="•"/>
            </a:pPr>
            <a:r>
              <a:rPr lang="en-US" sz="1600" dirty="0">
                <a:solidFill>
                  <a:srgbClr val="1F2328"/>
                </a:solidFill>
                <a:latin typeface="Calibri" pitchFamily="34" charset="0"/>
                <a:ea typeface="Calibri" pitchFamily="34" charset="-122"/>
                <a:cs typeface="Calibri" pitchFamily="34" charset="-120"/>
              </a:rPr>
              <a:t>NASA and Wikipedia traces</a:t>
            </a:r>
            <a:endParaRPr lang="en-US" sz="1600" dirty="0"/>
          </a:p>
          <a:p>
            <a:pPr marL="342900" indent="-342900">
              <a:spcAft>
                <a:spcPts val="1000"/>
              </a:spcAft>
              <a:buSzPct val="100000"/>
              <a:buChar char="•"/>
            </a:pPr>
            <a:r>
              <a:rPr lang="en-US" sz="1600" dirty="0">
                <a:solidFill>
                  <a:srgbClr val="1F2328"/>
                </a:solidFill>
                <a:latin typeface="Calibri" pitchFamily="34" charset="0"/>
                <a:ea typeface="Calibri" pitchFamily="34" charset="-122"/>
                <a:cs typeface="Calibri" pitchFamily="34" charset="-120"/>
              </a:rPr>
              <a:t>Used unchanged in src/ (git diff is empty)</a:t>
            </a:r>
            <a:endParaRPr lang="en-US" sz="1600" dirty="0"/>
          </a:p>
        </p:txBody>
      </p:sp>
      <p:sp>
        <p:nvSpPr>
          <p:cNvPr id="6" name="Shape 4"/>
          <p:cNvSpPr/>
          <p:nvPr/>
        </p:nvSpPr>
        <p:spPr>
          <a:xfrm>
            <a:off x="6217920" y="1371600"/>
            <a:ext cx="5394960" cy="4480560"/>
          </a:xfrm>
          <a:prstGeom prst="roundRect">
            <a:avLst>
              <a:gd name="adj" fmla="val 2449"/>
            </a:avLst>
          </a:prstGeom>
          <a:solidFill>
            <a:srgbClr val="FDEEE6"/>
          </a:solidFill>
          <a:ln w="12700">
            <a:solidFill>
              <a:srgbClr val="FDEEE6"/>
            </a:solidFill>
            <a:prstDash val="solid"/>
          </a:ln>
        </p:spPr>
      </p:sp>
      <p:sp>
        <p:nvSpPr>
          <p:cNvPr id="7" name="Text 5"/>
          <p:cNvSpPr txBox="1"/>
          <p:nvPr/>
        </p:nvSpPr>
        <p:spPr>
          <a:xfrm>
            <a:off x="6492240" y="1554480"/>
            <a:ext cx="4846320" cy="457200"/>
          </a:xfrm>
          <a:prstGeom prst="rect">
            <a:avLst/>
          </a:prstGeom>
          <a:noFill/>
          <a:ln/>
        </p:spPr>
        <p:txBody>
          <a:bodyPr wrap="square" lIns="0" tIns="0" rIns="0" bIns="0" rtlCol="0" anchor="t"/>
          <a:lstStyle/>
          <a:p>
            <a:pPr indent="0" marL="0">
              <a:buNone/>
            </a:pPr>
            <a:r>
              <a:rPr lang="en-US" sz="2000" b="1" dirty="0">
                <a:solidFill>
                  <a:srgbClr val="EB6834"/>
                </a:solidFill>
                <a:latin typeface="Calibri" pitchFamily="34" charset="0"/>
                <a:ea typeface="Calibri" pitchFamily="34" charset="-122"/>
                <a:cs typeface="Calibri" pitchFamily="34" charset="-120"/>
              </a:rPr>
              <a:t>Added in this project</a:t>
            </a:r>
            <a:endParaRPr lang="en-US" sz="2000" dirty="0"/>
          </a:p>
        </p:txBody>
      </p:sp>
      <p:sp>
        <p:nvSpPr>
          <p:cNvPr id="8" name="Text 6"/>
          <p:cNvSpPr txBox="1"/>
          <p:nvPr/>
        </p:nvSpPr>
        <p:spPr>
          <a:xfrm>
            <a:off x="6492240" y="2148840"/>
            <a:ext cx="4846320" cy="32918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328"/>
                </a:solidFill>
                <a:latin typeface="Calibri" pitchFamily="34" charset="0"/>
                <a:ea typeface="Calibri" pitchFamily="34" charset="-122"/>
                <a:cs typeface="Calibri" pitchFamily="34" charset="-120"/>
              </a:rPr>
              <a:t>1. Reproduction runner + byte-identity check</a:t>
            </a:r>
            <a:endParaRPr lang="en-US" sz="1600" dirty="0"/>
          </a:p>
          <a:p>
            <a:pPr marL="342900" indent="-342900">
              <a:spcAft>
                <a:spcPts val="1000"/>
              </a:spcAft>
              <a:buSzPct val="100000"/>
              <a:buChar char="•"/>
            </a:pPr>
            <a:r>
              <a:rPr lang="en-US" sz="1600" dirty="0">
                <a:solidFill>
                  <a:srgbClr val="1F2328"/>
                </a:solidFill>
                <a:latin typeface="Calibri" pitchFamily="34" charset="0"/>
                <a:ea typeface="Calibri" pitchFamily="34" charset="-122"/>
                <a:cs typeface="Calibri" pitchFamily="34" charset="-120"/>
              </a:rPr>
              <a:t>2. Budget guard, explanations, conflict warnings</a:t>
            </a:r>
            <a:endParaRPr lang="en-US" sz="1600" dirty="0"/>
          </a:p>
          <a:p>
            <a:pPr marL="342900" indent="-342900">
              <a:spcAft>
                <a:spcPts val="1000"/>
              </a:spcAft>
              <a:buSzPct val="100000"/>
              <a:buChar char="•"/>
            </a:pPr>
            <a:r>
              <a:rPr lang="en-US" sz="1600" dirty="0">
                <a:solidFill>
                  <a:srgbClr val="1F2328"/>
                </a:solidFill>
                <a:latin typeface="Calibri" pitchFamily="34" charset="0"/>
                <a:ea typeface="Calibri" pitchFamily="34" charset="-122"/>
                <a:cs typeface="Calibri" pitchFamily="34" charset="-120"/>
              </a:rPr>
              <a:t>3. Workload upload, forecast, spike warnings, capacity &amp; cost</a:t>
            </a:r>
            <a:endParaRPr lang="en-US" sz="1600" dirty="0"/>
          </a:p>
          <a:p>
            <a:pPr marL="342900" indent="-342900">
              <a:spcAft>
                <a:spcPts val="1000"/>
              </a:spcAft>
              <a:buSzPct val="100000"/>
              <a:buChar char="•"/>
            </a:pPr>
            <a:r>
              <a:rPr lang="en-US" sz="1600" dirty="0">
                <a:solidFill>
                  <a:srgbClr val="1F2328"/>
                </a:solidFill>
                <a:latin typeface="Calibri" pitchFamily="34" charset="0"/>
                <a:ea typeface="Calibri" pitchFamily="34" charset="-122"/>
                <a:cs typeface="Calibri" pitchFamily="34" charset="-120"/>
              </a:rPr>
              <a:t>Dashboard, API, SQLite/PostgreSQL, Docker, AWS</a:t>
            </a:r>
            <a:endParaRPr lang="en-US" sz="1600" dirty="0"/>
          </a:p>
          <a:p>
            <a:pPr marL="342900" indent="-342900">
              <a:spcAft>
                <a:spcPts val="1000"/>
              </a:spcAft>
              <a:buSzPct val="100000"/>
              <a:buChar char="•"/>
            </a:pPr>
            <a:r>
              <a:rPr lang="en-US" sz="1600" dirty="0">
                <a:solidFill>
                  <a:srgbClr val="1F2328"/>
                </a:solidFill>
                <a:latin typeface="Calibri" pitchFamily="34" charset="0"/>
                <a:ea typeface="Calibri" pitchFamily="34" charset="-122"/>
                <a:cs typeface="Calibri" pitchFamily="34" charset="-120"/>
              </a:rPr>
              <a:t>54 JUnit tests, evaluation command</a:t>
            </a:r>
            <a:endParaRPr lang="en-US" sz="1600" dirty="0"/>
          </a:p>
        </p:txBody>
      </p:sp>
      <p:sp>
        <p:nvSpPr>
          <p:cNvPr id="9" name="Text 7"/>
          <p:cNvSpPr txBox="1"/>
          <p:nvPr/>
        </p:nvSpPr>
        <p:spPr>
          <a:xfrm>
            <a:off x="548640" y="5989320"/>
            <a:ext cx="11064240" cy="457200"/>
          </a:xfrm>
          <a:prstGeom prst="rect">
            <a:avLst/>
          </a:prstGeom>
          <a:noFill/>
          <a:ln/>
        </p:spPr>
        <p:txBody>
          <a:bodyPr wrap="square" lIns="0" tIns="0" rIns="0" bIns="0" rtlCol="0" anchor="t"/>
          <a:lstStyle/>
          <a:p>
            <a:pPr indent="0" marL="0">
              <a:buNone/>
            </a:pPr>
            <a:r>
              <a:rPr lang="en-US" sz="1300" i="1" dirty="0">
                <a:solidFill>
                  <a:srgbClr val="57606A"/>
                </a:solidFill>
                <a:latin typeface="Calibri" pitchFamily="34" charset="0"/>
                <a:ea typeface="Calibri" pitchFamily="34" charset="-122"/>
                <a:cs typeface="Calibri" pitchFamily="34" charset="-120"/>
              </a:rPr>
              <a:t>Not claimed as novel research: cost-aware scaling, explainability and forecasting all exist in the literature. New relative to the AutoScaleSim code base.</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B2A4A"/>
                </a:solidFill>
                <a:latin typeface="Cambria" pitchFamily="34" charset="0"/>
                <a:ea typeface="Cambria" pitchFamily="34" charset="-122"/>
                <a:cs typeface="Cambria" pitchFamily="34" charset="-120"/>
              </a:rPr>
              <a:t>Reproduction: outputs identical to the authors' own files</a:t>
            </a:r>
            <a:endParaRPr lang="en-US" sz="3000" dirty="0"/>
          </a:p>
        </p:txBody>
      </p:sp>
      <p:sp>
        <p:nvSpPr>
          <p:cNvPr id="3" name="Text 1"/>
          <p:cNvSpPr txBox="1"/>
          <p:nvPr/>
        </p:nvSpPr>
        <p:spPr>
          <a:xfrm>
            <a:off x="548640" y="1371600"/>
            <a:ext cx="3474720" cy="868680"/>
          </a:xfrm>
          <a:prstGeom prst="rect">
            <a:avLst/>
          </a:prstGeom>
          <a:noFill/>
          <a:ln/>
        </p:spPr>
        <p:txBody>
          <a:bodyPr wrap="square" lIns="0" tIns="0" rIns="0" bIns="0" rtlCol="0" anchor="t"/>
          <a:lstStyle/>
          <a:p>
            <a:pPr indent="0" marL="0">
              <a:buNone/>
            </a:pPr>
            <a:r>
              <a:rPr lang="en-US" sz="4400" b="1" dirty="0">
                <a:solidFill>
                  <a:srgbClr val="1BAF7A"/>
                </a:solidFill>
                <a:latin typeface="Cambria" pitchFamily="34" charset="0"/>
                <a:ea typeface="Cambria" pitchFamily="34" charset="-122"/>
                <a:cs typeface="Cambria" pitchFamily="34" charset="-120"/>
              </a:rPr>
              <a:t>3 / 3</a:t>
            </a:r>
            <a:endParaRPr lang="en-US" sz="4400" dirty="0"/>
          </a:p>
        </p:txBody>
      </p:sp>
      <p:sp>
        <p:nvSpPr>
          <p:cNvPr id="4" name="Text 2"/>
          <p:cNvSpPr txBox="1"/>
          <p:nvPr/>
        </p:nvSpPr>
        <p:spPr>
          <a:xfrm>
            <a:off x="548640" y="2240280"/>
            <a:ext cx="3474720" cy="640080"/>
          </a:xfrm>
          <a:prstGeom prst="rect">
            <a:avLst/>
          </a:prstGeom>
          <a:noFill/>
          <a:ln/>
        </p:spPr>
        <p:txBody>
          <a:bodyPr wrap="square" lIns="0" tIns="0" rIns="0" bIns="0" rtlCol="0" anchor="t"/>
          <a:lstStyle/>
          <a:p>
            <a:pPr indent="0" marL="0">
              <a:buNone/>
            </a:pPr>
            <a:r>
              <a:rPr lang="en-US" sz="1400" dirty="0">
                <a:solidFill>
                  <a:srgbClr val="57606A"/>
                </a:solidFill>
                <a:latin typeface="Calibri" pitchFamily="34" charset="0"/>
                <a:ea typeface="Calibri" pitchFamily="34" charset="-122"/>
                <a:cs typeface="Calibri" pitchFamily="34" charset="-120"/>
              </a:rPr>
              <a:t>monitoring files byte-identical to the authors' committed CSVs</a:t>
            </a:r>
            <a:endParaRPr lang="en-US" sz="1400" dirty="0"/>
          </a:p>
        </p:txBody>
      </p:sp>
      <p:sp>
        <p:nvSpPr>
          <p:cNvPr id="5" name="Text 3"/>
          <p:cNvSpPr txBox="1"/>
          <p:nvPr/>
        </p:nvSpPr>
        <p:spPr>
          <a:xfrm>
            <a:off x="4297680" y="1371600"/>
            <a:ext cx="2377440" cy="868680"/>
          </a:xfrm>
          <a:prstGeom prst="rect">
            <a:avLst/>
          </a:prstGeom>
          <a:noFill/>
          <a:ln/>
        </p:spPr>
        <p:txBody>
          <a:bodyPr wrap="square" lIns="0" tIns="0" rIns="0" bIns="0" rtlCol="0" anchor="t"/>
          <a:lstStyle/>
          <a:p>
            <a:pPr indent="0" marL="0">
              <a:buNone/>
            </a:pPr>
            <a:r>
              <a:rPr lang="en-US" sz="4400" b="1" dirty="0">
                <a:solidFill>
                  <a:srgbClr val="1B2A4A"/>
                </a:solidFill>
                <a:latin typeface="Cambria" pitchFamily="34" charset="0"/>
                <a:ea typeface="Cambria" pitchFamily="34" charset="-122"/>
                <a:cs typeface="Cambria" pitchFamily="34" charset="-120"/>
              </a:rPr>
              <a:t>5,67,783</a:t>
            </a:r>
            <a:endParaRPr lang="en-US" sz="4400" dirty="0"/>
          </a:p>
        </p:txBody>
      </p:sp>
      <p:sp>
        <p:nvSpPr>
          <p:cNvPr id="6" name="Text 4"/>
          <p:cNvSpPr txBox="1"/>
          <p:nvPr/>
        </p:nvSpPr>
        <p:spPr>
          <a:xfrm>
            <a:off x="4297680" y="2240280"/>
            <a:ext cx="2377440" cy="640080"/>
          </a:xfrm>
          <a:prstGeom prst="rect">
            <a:avLst/>
          </a:prstGeom>
          <a:noFill/>
          <a:ln/>
        </p:spPr>
        <p:txBody>
          <a:bodyPr wrap="square" lIns="0" tIns="0" rIns="0" bIns="0" rtlCol="0" anchor="t"/>
          <a:lstStyle/>
          <a:p>
            <a:pPr indent="0" marL="0">
              <a:buNone/>
            </a:pPr>
            <a:r>
              <a:rPr lang="en-US" sz="1400" dirty="0">
                <a:solidFill>
                  <a:srgbClr val="57606A"/>
                </a:solidFill>
                <a:latin typeface="Calibri" pitchFamily="34" charset="0"/>
                <a:ea typeface="Calibri" pitchFamily="34" charset="-122"/>
                <a:cs typeface="Calibri" pitchFamily="34" charset="-120"/>
              </a:rPr>
              <a:t>requests replayed</a:t>
            </a:r>
            <a:endParaRPr lang="en-US" sz="1400" dirty="0"/>
          </a:p>
        </p:txBody>
      </p:sp>
      <p:sp>
        <p:nvSpPr>
          <p:cNvPr id="7" name="Text 5"/>
          <p:cNvSpPr txBox="1"/>
          <p:nvPr/>
        </p:nvSpPr>
        <p:spPr>
          <a:xfrm>
            <a:off x="6858000" y="1371600"/>
            <a:ext cx="2377440" cy="868680"/>
          </a:xfrm>
          <a:prstGeom prst="rect">
            <a:avLst/>
          </a:prstGeom>
          <a:noFill/>
          <a:ln/>
        </p:spPr>
        <p:txBody>
          <a:bodyPr wrap="square" lIns="0" tIns="0" rIns="0" bIns="0" rtlCol="0" anchor="t"/>
          <a:lstStyle/>
          <a:p>
            <a:pPr indent="0" marL="0">
              <a:buNone/>
            </a:pPr>
            <a:r>
              <a:rPr lang="en-US" sz="4400" b="1" dirty="0">
                <a:solidFill>
                  <a:srgbClr val="1B2A4A"/>
                </a:solidFill>
                <a:latin typeface="Cambria" pitchFamily="34" charset="0"/>
                <a:ea typeface="Cambria" pitchFamily="34" charset="-122"/>
                <a:cs typeface="Cambria" pitchFamily="34" charset="-120"/>
              </a:rPr>
              <a:t>3.986 s</a:t>
            </a:r>
            <a:endParaRPr lang="en-US" sz="4400" dirty="0"/>
          </a:p>
        </p:txBody>
      </p:sp>
      <p:sp>
        <p:nvSpPr>
          <p:cNvPr id="8" name="Text 6"/>
          <p:cNvSpPr txBox="1"/>
          <p:nvPr/>
        </p:nvSpPr>
        <p:spPr>
          <a:xfrm>
            <a:off x="6858000" y="2240280"/>
            <a:ext cx="2377440" cy="640080"/>
          </a:xfrm>
          <a:prstGeom prst="rect">
            <a:avLst/>
          </a:prstGeom>
          <a:noFill/>
          <a:ln/>
        </p:spPr>
        <p:txBody>
          <a:bodyPr wrap="square" lIns="0" tIns="0" rIns="0" bIns="0" rtlCol="0" anchor="t"/>
          <a:lstStyle/>
          <a:p>
            <a:pPr indent="0" marL="0">
              <a:buNone/>
            </a:pPr>
            <a:r>
              <a:rPr lang="en-US" sz="1400" dirty="0">
                <a:solidFill>
                  <a:srgbClr val="57606A"/>
                </a:solidFill>
                <a:latin typeface="Calibri" pitchFamily="34" charset="0"/>
                <a:ea typeface="Calibri" pitchFamily="34" charset="-122"/>
                <a:cs typeface="Calibri" pitchFamily="34" charset="-120"/>
              </a:rPr>
              <a:t>average response time</a:t>
            </a:r>
            <a:endParaRPr lang="en-US" sz="1400" dirty="0"/>
          </a:p>
        </p:txBody>
      </p:sp>
      <p:sp>
        <p:nvSpPr>
          <p:cNvPr id="9" name="Text 7"/>
          <p:cNvSpPr txBox="1"/>
          <p:nvPr/>
        </p:nvSpPr>
        <p:spPr>
          <a:xfrm>
            <a:off x="9418320" y="1371600"/>
            <a:ext cx="2377440" cy="868680"/>
          </a:xfrm>
          <a:prstGeom prst="rect">
            <a:avLst/>
          </a:prstGeom>
          <a:noFill/>
          <a:ln/>
        </p:spPr>
        <p:txBody>
          <a:bodyPr wrap="square" lIns="0" tIns="0" rIns="0" bIns="0" rtlCol="0" anchor="t"/>
          <a:lstStyle/>
          <a:p>
            <a:pPr indent="0" marL="0">
              <a:buNone/>
            </a:pPr>
            <a:r>
              <a:rPr lang="en-US" sz="4400" b="1" dirty="0">
                <a:solidFill>
                  <a:srgbClr val="1B2A4A"/>
                </a:solidFill>
                <a:latin typeface="Cambria" pitchFamily="34" charset="0"/>
                <a:ea typeface="Cambria" pitchFamily="34" charset="-122"/>
                <a:cs typeface="Cambria" pitchFamily="34" charset="-120"/>
              </a:rPr>
              <a:t>US$29.84</a:t>
            </a:r>
            <a:endParaRPr lang="en-US" sz="4400" dirty="0"/>
          </a:p>
        </p:txBody>
      </p:sp>
      <p:sp>
        <p:nvSpPr>
          <p:cNvPr id="10" name="Text 8"/>
          <p:cNvSpPr txBox="1"/>
          <p:nvPr/>
        </p:nvSpPr>
        <p:spPr>
          <a:xfrm>
            <a:off x="9418320" y="2240280"/>
            <a:ext cx="2377440" cy="640080"/>
          </a:xfrm>
          <a:prstGeom prst="rect">
            <a:avLst/>
          </a:prstGeom>
          <a:noFill/>
          <a:ln/>
        </p:spPr>
        <p:txBody>
          <a:bodyPr wrap="square" lIns="0" tIns="0" rIns="0" bIns="0" rtlCol="0" anchor="t"/>
          <a:lstStyle/>
          <a:p>
            <a:pPr indent="0" marL="0">
              <a:buNone/>
            </a:pPr>
            <a:r>
              <a:rPr lang="en-US" sz="1400" dirty="0">
                <a:solidFill>
                  <a:srgbClr val="57606A"/>
                </a:solidFill>
                <a:latin typeface="Calibri" pitchFamily="34" charset="0"/>
                <a:ea typeface="Calibri" pitchFamily="34" charset="-122"/>
                <a:cs typeface="Calibri" pitchFamily="34" charset="-120"/>
              </a:rPr>
              <a:t>renting cost (7 days)</a:t>
            </a:r>
            <a:endParaRPr lang="en-US" sz="1400" dirty="0"/>
          </a:p>
        </p:txBody>
      </p:sp>
      <p:sp>
        <p:nvSpPr>
          <p:cNvPr id="11" name="Shape 9"/>
          <p:cNvSpPr/>
          <p:nvPr/>
        </p:nvSpPr>
        <p:spPr>
          <a:xfrm>
            <a:off x="548640" y="3566160"/>
            <a:ext cx="11064240" cy="2057400"/>
          </a:xfrm>
          <a:prstGeom prst="roundRect">
            <a:avLst>
              <a:gd name="adj" fmla="val 5333"/>
            </a:avLst>
          </a:prstGeom>
          <a:solidFill>
            <a:srgbClr val="F3F6FB"/>
          </a:solidFill>
          <a:ln w="12700">
            <a:solidFill>
              <a:srgbClr val="F3F6FB"/>
            </a:solidFill>
            <a:prstDash val="solid"/>
          </a:ln>
        </p:spPr>
      </p:sp>
      <p:sp>
        <p:nvSpPr>
          <p:cNvPr id="12" name="Text 10"/>
          <p:cNvSpPr txBox="1"/>
          <p:nvPr/>
        </p:nvSpPr>
        <p:spPr>
          <a:xfrm>
            <a:off x="822960" y="3703320"/>
            <a:ext cx="4572000" cy="411480"/>
          </a:xfrm>
          <a:prstGeom prst="rect">
            <a:avLst/>
          </a:prstGeom>
          <a:noFill/>
          <a:ln/>
        </p:spPr>
        <p:txBody>
          <a:bodyPr wrap="square" lIns="0" tIns="0" rIns="0" bIns="0" rtlCol="0" anchor="t"/>
          <a:lstStyle/>
          <a:p>
            <a:pPr indent="0" marL="0">
              <a:buNone/>
            </a:pPr>
            <a:r>
              <a:rPr lang="en-US" sz="1800" b="1" dirty="0">
                <a:solidFill>
                  <a:srgbClr val="1B2A4A"/>
                </a:solidFill>
                <a:latin typeface="Calibri" pitchFamily="34" charset="0"/>
                <a:ea typeface="Calibri" pitchFamily="34" charset="-122"/>
                <a:cs typeface="Calibri" pitchFamily="34" charset="-120"/>
              </a:rPr>
              <a:t>What it took</a:t>
            </a:r>
            <a:endParaRPr lang="en-US" sz="1800" dirty="0"/>
          </a:p>
        </p:txBody>
      </p:sp>
      <p:sp>
        <p:nvSpPr>
          <p:cNvPr id="13" name="Text 11"/>
          <p:cNvSpPr txBox="1"/>
          <p:nvPr/>
        </p:nvSpPr>
        <p:spPr>
          <a:xfrm>
            <a:off x="822960" y="4160520"/>
            <a:ext cx="1051560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328"/>
                </a:solidFill>
                <a:latin typeface="Calibri" pitchFamily="34" charset="0"/>
                <a:ea typeface="Calibri" pitchFamily="34" charset="-122"/>
                <a:cs typeface="Calibri" pitchFamily="34" charset="-120"/>
              </a:rPr>
              <a:t>Missing JARs (authors' D:\Dropbox paths): same versions from Maven Central; Neuroph 2.92 repackage</a:t>
            </a:r>
            <a:endParaRPr lang="en-US" sz="1500" dirty="0"/>
          </a:p>
          <a:p>
            <a:pPr marL="342900" indent="-342900">
              <a:spcAft>
                <a:spcPts val="600"/>
              </a:spcAft>
              <a:buSzPct val="100000"/>
              <a:buChar char="•"/>
            </a:pPr>
            <a:r>
              <a:rPr lang="en-US" sz="1500" dirty="0">
                <a:solidFill>
                  <a:srgbClr val="1F2328"/>
                </a:solidFill>
                <a:latin typeface="Calibri" pitchFamily="34" charset="0"/>
                <a:ea typeface="Calibri" pitchFamily="34" charset="-122"/>
                <a:cs typeface="Calibri" pitchFamily="34" charset="-120"/>
              </a:rPr>
              <a:t>Compiled unchanged with JDK 21 using --release 8, as the NetBeans project specifies</a:t>
            </a:r>
            <a:endParaRPr lang="en-US" sz="1500" dirty="0"/>
          </a:p>
          <a:p>
            <a:pPr marL="342900" indent="-342900">
              <a:spcAft>
                <a:spcPts val="600"/>
              </a:spcAft>
              <a:buSzPct val="100000"/>
              <a:buChar char="•"/>
            </a:pPr>
            <a:r>
              <a:rPr lang="en-US" sz="1500" dirty="0">
                <a:solidFill>
                  <a:srgbClr val="1F2328"/>
                </a:solidFill>
                <a:latin typeface="Calibri" pitchFamily="34" charset="0"/>
                <a:ea typeface="Calibri" pitchFamily="34" charset="-122"/>
                <a:cs typeface="Calibri" pitchFamily="34" charset="-120"/>
              </a:rPr>
              <a:t>Each simulation in its own JVM and folder: the code keeps static state and writes src/others/</a:t>
            </a:r>
            <a:endParaRPr lang="en-US" sz="1500" dirty="0"/>
          </a:p>
          <a:p>
            <a:pPr marL="342900" indent="-342900">
              <a:spcAft>
                <a:spcPts val="600"/>
              </a:spcAft>
              <a:buSzPct val="100000"/>
              <a:buChar char="•"/>
            </a:pPr>
            <a:r>
              <a:rPr lang="en-US" sz="1500" dirty="0">
                <a:solidFill>
                  <a:srgbClr val="1F2328"/>
                </a:solidFill>
                <a:latin typeface="Calibri" pitchFamily="34" charset="0"/>
                <a:ea typeface="Calibri" pitchFamily="34" charset="-122"/>
                <a:cs typeface="Calibri" pitchFamily="34" charset="-120"/>
              </a:rPr>
              <a:t>Paper PDF was not reachable from the build environment: paper-table comparison still to do</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B2A4A"/>
                </a:solidFill>
                <a:latin typeface="Cambria" pitchFamily="34" charset="0"/>
                <a:ea typeface="Cambria" pitchFamily="34" charset="-122"/>
                <a:cs typeface="Cambria" pitchFamily="34" charset="-120"/>
              </a:rPr>
              <a:t>Budget guard: the original rule decides, then the guard checks</a:t>
            </a:r>
            <a:endParaRPr lang="en-US" sz="3000" dirty="0"/>
          </a:p>
        </p:txBody>
      </p:sp>
      <p:sp>
        <p:nvSpPr>
          <p:cNvPr id="3" name="Shape 1"/>
          <p:cNvSpPr/>
          <p:nvPr/>
        </p:nvSpPr>
        <p:spPr>
          <a:xfrm>
            <a:off x="548640" y="1417320"/>
            <a:ext cx="502920" cy="502920"/>
          </a:xfrm>
          <a:prstGeom prst="ellipse">
            <a:avLst/>
          </a:prstGeom>
          <a:solidFill>
            <a:srgbClr val="2A78D6"/>
          </a:solidFill>
          <a:ln w="12700">
            <a:solidFill>
              <a:srgbClr val="2A78D6"/>
            </a:solidFill>
            <a:prstDash val="solid"/>
          </a:ln>
        </p:spPr>
      </p:sp>
      <p:sp>
        <p:nvSpPr>
          <p:cNvPr id="4" name="Text 2"/>
          <p:cNvSpPr txBox="1"/>
          <p:nvPr/>
        </p:nvSpPr>
        <p:spPr>
          <a:xfrm>
            <a:off x="548640" y="14173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Text 3"/>
          <p:cNvSpPr txBox="1"/>
          <p:nvPr/>
        </p:nvSpPr>
        <p:spPr>
          <a:xfrm>
            <a:off x="548640" y="2057400"/>
            <a:ext cx="2560320" cy="457200"/>
          </a:xfrm>
          <a:prstGeom prst="rect">
            <a:avLst/>
          </a:prstGeom>
          <a:noFill/>
          <a:ln/>
        </p:spPr>
        <p:txBody>
          <a:bodyPr wrap="square" lIns="0" tIns="0" rIns="0" bIns="0" rtlCol="0" anchor="t"/>
          <a:lstStyle/>
          <a:p>
            <a:pPr indent="0" marL="0">
              <a:buNone/>
            </a:pPr>
            <a:r>
              <a:rPr lang="en-US" sz="1900" b="1" dirty="0">
                <a:solidFill>
                  <a:srgbClr val="1B2A4A"/>
                </a:solidFill>
                <a:latin typeface="Calibri" pitchFamily="34" charset="0"/>
                <a:ea typeface="Calibri" pitchFamily="34" charset="-122"/>
                <a:cs typeface="Calibri" pitchFamily="34" charset="-120"/>
              </a:rPr>
              <a:t>Original rule</a:t>
            </a:r>
            <a:endParaRPr lang="en-US" sz="1900" dirty="0"/>
          </a:p>
        </p:txBody>
      </p:sp>
      <p:sp>
        <p:nvSpPr>
          <p:cNvPr id="6" name="Text 4"/>
          <p:cNvSpPr txBox="1"/>
          <p:nvPr/>
        </p:nvSpPr>
        <p:spPr>
          <a:xfrm>
            <a:off x="548640" y="2514600"/>
            <a:ext cx="2560320" cy="109728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PlannerRuleBased decides SCALE_UP / DOWN / NOTHING, unchanged</a:t>
            </a:r>
            <a:endParaRPr lang="en-US" sz="1500" dirty="0"/>
          </a:p>
        </p:txBody>
      </p:sp>
      <p:sp>
        <p:nvSpPr>
          <p:cNvPr id="7" name="Shape 5"/>
          <p:cNvSpPr/>
          <p:nvPr/>
        </p:nvSpPr>
        <p:spPr>
          <a:xfrm>
            <a:off x="3383280" y="1417320"/>
            <a:ext cx="502920" cy="502920"/>
          </a:xfrm>
          <a:prstGeom prst="ellipse">
            <a:avLst/>
          </a:prstGeom>
          <a:solidFill>
            <a:srgbClr val="EB6834"/>
          </a:solidFill>
          <a:ln w="12700">
            <a:solidFill>
              <a:srgbClr val="EB6834"/>
            </a:solidFill>
            <a:prstDash val="solid"/>
          </a:ln>
        </p:spPr>
      </p:sp>
      <p:sp>
        <p:nvSpPr>
          <p:cNvPr id="8" name="Text 6"/>
          <p:cNvSpPr txBox="1"/>
          <p:nvPr/>
        </p:nvSpPr>
        <p:spPr>
          <a:xfrm>
            <a:off x="3383280" y="14173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txBox="1"/>
          <p:nvPr/>
        </p:nvSpPr>
        <p:spPr>
          <a:xfrm>
            <a:off x="3383280" y="2057400"/>
            <a:ext cx="2560320" cy="457200"/>
          </a:xfrm>
          <a:prstGeom prst="rect">
            <a:avLst/>
          </a:prstGeom>
          <a:noFill/>
          <a:ln/>
        </p:spPr>
        <p:txBody>
          <a:bodyPr wrap="square" lIns="0" tIns="0" rIns="0" bIns="0" rtlCol="0" anchor="t"/>
          <a:lstStyle/>
          <a:p>
            <a:pPr indent="0" marL="0">
              <a:buNone/>
            </a:pPr>
            <a:r>
              <a:rPr lang="en-US" sz="1900" b="1" dirty="0">
                <a:solidFill>
                  <a:srgbClr val="1B2A4A"/>
                </a:solidFill>
                <a:latin typeface="Calibri" pitchFamily="34" charset="0"/>
                <a:ea typeface="Calibri" pitchFamily="34" charset="-122"/>
                <a:cs typeface="Calibri" pitchFamily="34" charset="-120"/>
              </a:rPr>
              <a:t>Committed cost</a:t>
            </a:r>
            <a:endParaRPr lang="en-US" sz="1900" dirty="0"/>
          </a:p>
        </p:txBody>
      </p:sp>
      <p:sp>
        <p:nvSpPr>
          <p:cNvPr id="10" name="Text 8"/>
          <p:cNvSpPr txBox="1"/>
          <p:nvPr/>
        </p:nvSpPr>
        <p:spPr>
          <a:xfrm>
            <a:off x="3383280" y="2514600"/>
            <a:ext cx="2560320" cy="109728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Simulator billing: ceil(hours) × price, looking 10 min ahead</a:t>
            </a:r>
            <a:endParaRPr lang="en-US" sz="1500" dirty="0"/>
          </a:p>
        </p:txBody>
      </p:sp>
      <p:sp>
        <p:nvSpPr>
          <p:cNvPr id="11" name="Shape 9"/>
          <p:cNvSpPr/>
          <p:nvPr/>
        </p:nvSpPr>
        <p:spPr>
          <a:xfrm>
            <a:off x="6217920" y="1417320"/>
            <a:ext cx="502920" cy="502920"/>
          </a:xfrm>
          <a:prstGeom prst="ellipse">
            <a:avLst/>
          </a:prstGeom>
          <a:solidFill>
            <a:srgbClr val="EB6834"/>
          </a:solidFill>
          <a:ln w="12700">
            <a:solidFill>
              <a:srgbClr val="EB6834"/>
            </a:solidFill>
            <a:prstDash val="solid"/>
          </a:ln>
        </p:spPr>
      </p:sp>
      <p:sp>
        <p:nvSpPr>
          <p:cNvPr id="12" name="Text 10"/>
          <p:cNvSpPr txBox="1"/>
          <p:nvPr/>
        </p:nvSpPr>
        <p:spPr>
          <a:xfrm>
            <a:off x="6217920" y="14173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1"/>
          <p:cNvSpPr txBox="1"/>
          <p:nvPr/>
        </p:nvSpPr>
        <p:spPr>
          <a:xfrm>
            <a:off x="6217920" y="2057400"/>
            <a:ext cx="2560320" cy="457200"/>
          </a:xfrm>
          <a:prstGeom prst="rect">
            <a:avLst/>
          </a:prstGeom>
          <a:noFill/>
          <a:ln/>
        </p:spPr>
        <p:txBody>
          <a:bodyPr wrap="square" lIns="0" tIns="0" rIns="0" bIns="0" rtlCol="0" anchor="t"/>
          <a:lstStyle/>
          <a:p>
            <a:pPr indent="0" marL="0">
              <a:buNone/>
            </a:pPr>
            <a:r>
              <a:rPr lang="en-US" sz="1900" b="1" dirty="0">
                <a:solidFill>
                  <a:srgbClr val="1B2A4A"/>
                </a:solidFill>
                <a:latin typeface="Calibri" pitchFamily="34" charset="0"/>
                <a:ea typeface="Calibri" pitchFamily="34" charset="-122"/>
                <a:cs typeface="Calibri" pitchFamily="34" charset="-120"/>
              </a:rPr>
              <a:t>Paced budget</a:t>
            </a:r>
            <a:endParaRPr lang="en-US" sz="1900" dirty="0"/>
          </a:p>
        </p:txBody>
      </p:sp>
      <p:sp>
        <p:nvSpPr>
          <p:cNvPr id="14" name="Text 12"/>
          <p:cNvSpPr txBox="1"/>
          <p:nvPr/>
        </p:nvSpPr>
        <p:spPr>
          <a:xfrm>
            <a:off x="6217920" y="2514600"/>
            <a:ext cx="2560320" cy="109728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Budget × elapsed share, minus one hour for the minimum fleet</a:t>
            </a:r>
            <a:endParaRPr lang="en-US" sz="1500" dirty="0"/>
          </a:p>
        </p:txBody>
      </p:sp>
      <p:sp>
        <p:nvSpPr>
          <p:cNvPr id="15" name="Shape 13"/>
          <p:cNvSpPr/>
          <p:nvPr/>
        </p:nvSpPr>
        <p:spPr>
          <a:xfrm>
            <a:off x="9052560" y="1417320"/>
            <a:ext cx="502920" cy="502920"/>
          </a:xfrm>
          <a:prstGeom prst="ellipse">
            <a:avLst/>
          </a:prstGeom>
          <a:solidFill>
            <a:srgbClr val="EB6834"/>
          </a:solidFill>
          <a:ln w="12700">
            <a:solidFill>
              <a:srgbClr val="EB6834"/>
            </a:solidFill>
            <a:prstDash val="solid"/>
          </a:ln>
        </p:spPr>
      </p:sp>
      <p:sp>
        <p:nvSpPr>
          <p:cNvPr id="16" name="Text 14"/>
          <p:cNvSpPr txBox="1"/>
          <p:nvPr/>
        </p:nvSpPr>
        <p:spPr>
          <a:xfrm>
            <a:off x="9052560" y="14173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7" name="Text 15"/>
          <p:cNvSpPr txBox="1"/>
          <p:nvPr/>
        </p:nvSpPr>
        <p:spPr>
          <a:xfrm>
            <a:off x="9052560" y="2057400"/>
            <a:ext cx="2560320" cy="457200"/>
          </a:xfrm>
          <a:prstGeom prst="rect">
            <a:avLst/>
          </a:prstGeom>
          <a:noFill/>
          <a:ln/>
        </p:spPr>
        <p:txBody>
          <a:bodyPr wrap="square" lIns="0" tIns="0" rIns="0" bIns="0" rtlCol="0" anchor="t"/>
          <a:lstStyle/>
          <a:p>
            <a:pPr indent="0" marL="0">
              <a:buNone/>
            </a:pPr>
            <a:r>
              <a:rPr lang="en-US" sz="1900" b="1" dirty="0">
                <a:solidFill>
                  <a:srgbClr val="1B2A4A"/>
                </a:solidFill>
                <a:latin typeface="Calibri" pitchFamily="34" charset="0"/>
                <a:ea typeface="Calibri" pitchFamily="34" charset="-122"/>
                <a:cs typeface="Calibri" pitchFamily="34" charset="-120"/>
              </a:rPr>
              <a:t>Decide + explain</a:t>
            </a:r>
            <a:endParaRPr lang="en-US" sz="1900" dirty="0"/>
          </a:p>
        </p:txBody>
      </p:sp>
      <p:sp>
        <p:nvSpPr>
          <p:cNvPr id="18" name="Text 16"/>
          <p:cNvSpPr txBox="1"/>
          <p:nvPr/>
        </p:nvSpPr>
        <p:spPr>
          <a:xfrm>
            <a:off x="9052560" y="2514600"/>
            <a:ext cx="2560320" cy="109728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Hold, remove one VM, or keep; record status and reason</a:t>
            </a:r>
            <a:endParaRPr lang="en-US" sz="1500" dirty="0"/>
          </a:p>
        </p:txBody>
      </p:sp>
      <p:sp>
        <p:nvSpPr>
          <p:cNvPr id="19" name="Shape 17"/>
          <p:cNvSpPr/>
          <p:nvPr/>
        </p:nvSpPr>
        <p:spPr>
          <a:xfrm>
            <a:off x="548640" y="4069080"/>
            <a:ext cx="3474720" cy="457200"/>
          </a:xfrm>
          <a:prstGeom prst="roundRect">
            <a:avLst>
              <a:gd name="adj" fmla="val 50000"/>
            </a:avLst>
          </a:prstGeom>
          <a:solidFill>
            <a:srgbClr val="FFFFFF"/>
          </a:solidFill>
          <a:ln w="19050">
            <a:solidFill>
              <a:srgbClr val="1BAF7A"/>
            </a:solidFill>
            <a:prstDash val="solid"/>
          </a:ln>
        </p:spPr>
      </p:sp>
      <p:sp>
        <p:nvSpPr>
          <p:cNvPr id="20" name="Text 18"/>
          <p:cNvSpPr txBox="1"/>
          <p:nvPr/>
        </p:nvSpPr>
        <p:spPr>
          <a:xfrm>
            <a:off x="548640" y="4069080"/>
            <a:ext cx="3474720" cy="457200"/>
          </a:xfrm>
          <a:prstGeom prst="rect">
            <a:avLst/>
          </a:prstGeom>
          <a:noFill/>
          <a:ln/>
        </p:spPr>
        <p:txBody>
          <a:bodyPr wrap="square" lIns="0" tIns="0" rIns="0" bIns="0" rtlCol="0" anchor="ctr"/>
          <a:lstStyle/>
          <a:p>
            <a:pPr algn="ctr" indent="0" marL="0">
              <a:buNone/>
            </a:pPr>
            <a:r>
              <a:rPr lang="en-US" sz="1400" b="1" dirty="0">
                <a:solidFill>
                  <a:srgbClr val="1BAF7A"/>
                </a:solidFill>
                <a:latin typeface="Calibri" pitchFamily="34" charset="0"/>
                <a:ea typeface="Calibri" pitchFamily="34" charset="-122"/>
                <a:cs typeface="Calibri" pitchFamily="34" charset="-120"/>
              </a:rPr>
              <a:t>OK</a:t>
            </a:r>
            <a:endParaRPr lang="en-US" sz="1400" dirty="0"/>
          </a:p>
        </p:txBody>
      </p:sp>
      <p:sp>
        <p:nvSpPr>
          <p:cNvPr id="21" name="Shape 19"/>
          <p:cNvSpPr/>
          <p:nvPr/>
        </p:nvSpPr>
        <p:spPr>
          <a:xfrm>
            <a:off x="4251960" y="4069080"/>
            <a:ext cx="3474720" cy="457200"/>
          </a:xfrm>
          <a:prstGeom prst="roundRect">
            <a:avLst>
              <a:gd name="adj" fmla="val 50000"/>
            </a:avLst>
          </a:prstGeom>
          <a:solidFill>
            <a:srgbClr val="FFFFFF"/>
          </a:solidFill>
          <a:ln w="19050">
            <a:solidFill>
              <a:srgbClr val="B07A00"/>
            </a:solidFill>
            <a:prstDash val="solid"/>
          </a:ln>
        </p:spPr>
      </p:sp>
      <p:sp>
        <p:nvSpPr>
          <p:cNvPr id="22" name="Text 20"/>
          <p:cNvSpPr txBox="1"/>
          <p:nvPr/>
        </p:nvSpPr>
        <p:spPr>
          <a:xfrm>
            <a:off x="4251960" y="4069080"/>
            <a:ext cx="3474720" cy="457200"/>
          </a:xfrm>
          <a:prstGeom prst="rect">
            <a:avLst/>
          </a:prstGeom>
          <a:noFill/>
          <a:ln/>
        </p:spPr>
        <p:txBody>
          <a:bodyPr wrap="square" lIns="0" tIns="0" rIns="0" bIns="0" rtlCol="0" anchor="ctr"/>
          <a:lstStyle/>
          <a:p>
            <a:pPr algn="ctr" indent="0" marL="0">
              <a:buNone/>
            </a:pPr>
            <a:r>
              <a:rPr lang="en-US" sz="1400" b="1" dirty="0">
                <a:solidFill>
                  <a:srgbClr val="B07A00"/>
                </a:solidFill>
                <a:latin typeface="Calibri" pitchFamily="34" charset="0"/>
                <a:ea typeface="Calibri" pitchFamily="34" charset="-122"/>
                <a:cs typeface="Calibri" pitchFamily="34" charset="-120"/>
              </a:rPr>
              <a:t>PERF_MISS</a:t>
            </a:r>
            <a:endParaRPr lang="en-US" sz="1400" dirty="0"/>
          </a:p>
        </p:txBody>
      </p:sp>
      <p:sp>
        <p:nvSpPr>
          <p:cNvPr id="23" name="Shape 21"/>
          <p:cNvSpPr/>
          <p:nvPr/>
        </p:nvSpPr>
        <p:spPr>
          <a:xfrm>
            <a:off x="7955280" y="4069080"/>
            <a:ext cx="3474720" cy="457200"/>
          </a:xfrm>
          <a:prstGeom prst="roundRect">
            <a:avLst>
              <a:gd name="adj" fmla="val 50000"/>
            </a:avLst>
          </a:prstGeom>
          <a:solidFill>
            <a:srgbClr val="FFFFFF"/>
          </a:solidFill>
          <a:ln w="19050">
            <a:solidFill>
              <a:srgbClr val="57606A"/>
            </a:solidFill>
            <a:prstDash val="solid"/>
          </a:ln>
        </p:spPr>
      </p:sp>
      <p:sp>
        <p:nvSpPr>
          <p:cNvPr id="24" name="Text 22"/>
          <p:cNvSpPr txBox="1"/>
          <p:nvPr/>
        </p:nvSpPr>
        <p:spPr>
          <a:xfrm>
            <a:off x="7955280" y="4069080"/>
            <a:ext cx="3474720" cy="457200"/>
          </a:xfrm>
          <a:prstGeom prst="rect">
            <a:avLst/>
          </a:prstGeom>
          <a:noFill/>
          <a:ln/>
        </p:spPr>
        <p:txBody>
          <a:bodyPr wrap="square" lIns="0" tIns="0" rIns="0" bIns="0" rtlCol="0" anchor="ctr"/>
          <a:lstStyle/>
          <a:p>
            <a:pPr algn="ctr" indent="0" marL="0">
              <a:buNone/>
            </a:pPr>
            <a:r>
              <a:rPr lang="en-US" sz="1400" b="1" dirty="0">
                <a:solidFill>
                  <a:srgbClr val="57606A"/>
                </a:solidFill>
                <a:latin typeface="Calibri" pitchFamily="34" charset="0"/>
                <a:ea typeface="Calibri" pitchFamily="34" charset="-122"/>
                <a:cs typeface="Calibri" pitchFamily="34" charset="-120"/>
              </a:rPr>
              <a:t>BUDGET_HOLD</a:t>
            </a:r>
            <a:endParaRPr lang="en-US" sz="1400" dirty="0"/>
          </a:p>
        </p:txBody>
      </p:sp>
      <p:sp>
        <p:nvSpPr>
          <p:cNvPr id="25" name="Shape 23"/>
          <p:cNvSpPr/>
          <p:nvPr/>
        </p:nvSpPr>
        <p:spPr>
          <a:xfrm>
            <a:off x="548640" y="4709160"/>
            <a:ext cx="3474720" cy="457200"/>
          </a:xfrm>
          <a:prstGeom prst="roundRect">
            <a:avLst>
              <a:gd name="adj" fmla="val 50000"/>
            </a:avLst>
          </a:prstGeom>
          <a:solidFill>
            <a:srgbClr val="FFFFFF"/>
          </a:solidFill>
          <a:ln w="19050">
            <a:solidFill>
              <a:srgbClr val="57606A"/>
            </a:solidFill>
            <a:prstDash val="solid"/>
          </a:ln>
        </p:spPr>
      </p:sp>
      <p:sp>
        <p:nvSpPr>
          <p:cNvPr id="26" name="Text 24"/>
          <p:cNvSpPr txBox="1"/>
          <p:nvPr/>
        </p:nvSpPr>
        <p:spPr>
          <a:xfrm>
            <a:off x="548640" y="4709160"/>
            <a:ext cx="3474720" cy="457200"/>
          </a:xfrm>
          <a:prstGeom prst="rect">
            <a:avLst/>
          </a:prstGeom>
          <a:noFill/>
          <a:ln/>
        </p:spPr>
        <p:txBody>
          <a:bodyPr wrap="square" lIns="0" tIns="0" rIns="0" bIns="0" rtlCol="0" anchor="ctr"/>
          <a:lstStyle/>
          <a:p>
            <a:pPr algn="ctr" indent="0" marL="0">
              <a:buNone/>
            </a:pPr>
            <a:r>
              <a:rPr lang="en-US" sz="1400" b="1" dirty="0">
                <a:solidFill>
                  <a:srgbClr val="57606A"/>
                </a:solidFill>
                <a:latin typeface="Calibri" pitchFamily="34" charset="0"/>
                <a:ea typeface="Calibri" pitchFamily="34" charset="-122"/>
                <a:cs typeface="Calibri" pitchFamily="34" charset="-120"/>
              </a:rPr>
              <a:t>BUDGET_RECOVERY</a:t>
            </a:r>
            <a:endParaRPr lang="en-US" sz="1400" dirty="0"/>
          </a:p>
        </p:txBody>
      </p:sp>
      <p:sp>
        <p:nvSpPr>
          <p:cNvPr id="27" name="Shape 25"/>
          <p:cNvSpPr/>
          <p:nvPr/>
        </p:nvSpPr>
        <p:spPr>
          <a:xfrm>
            <a:off x="4251960" y="4709160"/>
            <a:ext cx="3474720" cy="457200"/>
          </a:xfrm>
          <a:prstGeom prst="roundRect">
            <a:avLst>
              <a:gd name="adj" fmla="val 50000"/>
            </a:avLst>
          </a:prstGeom>
          <a:solidFill>
            <a:srgbClr val="FFFFFF"/>
          </a:solidFill>
          <a:ln w="19050">
            <a:solidFill>
              <a:srgbClr val="C62828"/>
            </a:solidFill>
            <a:prstDash val="solid"/>
          </a:ln>
        </p:spPr>
      </p:sp>
      <p:sp>
        <p:nvSpPr>
          <p:cNvPr id="28" name="Text 26"/>
          <p:cNvSpPr txBox="1"/>
          <p:nvPr/>
        </p:nvSpPr>
        <p:spPr>
          <a:xfrm>
            <a:off x="4251960" y="4709160"/>
            <a:ext cx="3474720" cy="457200"/>
          </a:xfrm>
          <a:prstGeom prst="rect">
            <a:avLst/>
          </a:prstGeom>
          <a:noFill/>
          <a:ln/>
        </p:spPr>
        <p:txBody>
          <a:bodyPr wrap="square" lIns="0" tIns="0" rIns="0" bIns="0" rtlCol="0" anchor="ctr"/>
          <a:lstStyle/>
          <a:p>
            <a:pPr algn="ctr" indent="0" marL="0">
              <a:buNone/>
            </a:pPr>
            <a:r>
              <a:rPr lang="en-US" sz="1400" b="1" dirty="0">
                <a:solidFill>
                  <a:srgbClr val="C62828"/>
                </a:solidFill>
                <a:latin typeface="Calibri" pitchFamily="34" charset="0"/>
                <a:ea typeface="Calibri" pitchFamily="34" charset="-122"/>
                <a:cs typeface="Calibri" pitchFamily="34" charset="-120"/>
              </a:rPr>
              <a:t>CONFLICT</a:t>
            </a:r>
            <a:endParaRPr lang="en-US" sz="1400" dirty="0"/>
          </a:p>
        </p:txBody>
      </p:sp>
      <p:sp>
        <p:nvSpPr>
          <p:cNvPr id="29" name="Shape 27"/>
          <p:cNvSpPr/>
          <p:nvPr/>
        </p:nvSpPr>
        <p:spPr>
          <a:xfrm>
            <a:off x="7955280" y="4709160"/>
            <a:ext cx="3474720" cy="457200"/>
          </a:xfrm>
          <a:prstGeom prst="roundRect">
            <a:avLst>
              <a:gd name="adj" fmla="val 50000"/>
            </a:avLst>
          </a:prstGeom>
          <a:solidFill>
            <a:srgbClr val="FFFFFF"/>
          </a:solidFill>
          <a:ln w="19050">
            <a:solidFill>
              <a:srgbClr val="C62828"/>
            </a:solidFill>
            <a:prstDash val="solid"/>
          </a:ln>
        </p:spPr>
      </p:sp>
      <p:sp>
        <p:nvSpPr>
          <p:cNvPr id="30" name="Text 28"/>
          <p:cNvSpPr txBox="1"/>
          <p:nvPr/>
        </p:nvSpPr>
        <p:spPr>
          <a:xfrm>
            <a:off x="7955280" y="4709160"/>
            <a:ext cx="3474720" cy="457200"/>
          </a:xfrm>
          <a:prstGeom prst="rect">
            <a:avLst/>
          </a:prstGeom>
          <a:noFill/>
          <a:ln/>
        </p:spPr>
        <p:txBody>
          <a:bodyPr wrap="square" lIns="0" tIns="0" rIns="0" bIns="0" rtlCol="0" anchor="ctr"/>
          <a:lstStyle/>
          <a:p>
            <a:pPr algn="ctr" indent="0" marL="0">
              <a:buNone/>
            </a:pPr>
            <a:r>
              <a:rPr lang="en-US" sz="1400" b="1" dirty="0">
                <a:solidFill>
                  <a:srgbClr val="C62828"/>
                </a:solidFill>
                <a:latin typeface="Calibri" pitchFamily="34" charset="0"/>
                <a:ea typeface="Calibri" pitchFamily="34" charset="-122"/>
                <a:cs typeface="Calibri" pitchFamily="34" charset="-120"/>
              </a:rPr>
              <a:t>INFEASIBLE</a:t>
            </a:r>
            <a:endParaRPr lang="en-US" sz="1400" dirty="0"/>
          </a:p>
        </p:txBody>
      </p:sp>
      <p:sp>
        <p:nvSpPr>
          <p:cNvPr id="31" name="Text 29"/>
          <p:cNvSpPr txBox="1"/>
          <p:nvPr/>
        </p:nvSpPr>
        <p:spPr>
          <a:xfrm>
            <a:off x="548640" y="5486400"/>
            <a:ext cx="11064240" cy="45720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Three labelled results: 1 original · 2 original analysed (proven identical) · 3 budget-guarded (decisions executed)</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B2A4A"/>
                </a:solidFill>
                <a:latin typeface="Cambria" pitchFamily="34" charset="0"/>
                <a:ea typeface="Cambria" pitchFamily="34" charset="-122"/>
                <a:cs typeface="Cambria" pitchFamily="34" charset="-120"/>
              </a:rPr>
              <a:t>Budgets are respected, but tight budgets cost response time</a:t>
            </a:r>
            <a:endParaRPr lang="en-US" sz="3000" dirty="0"/>
          </a:p>
        </p:txBody>
      </p:sp>
      <p:graphicFrame>
        <p:nvGraphicFramePr>
          <p:cNvPr id="3" name="Chart 0" descr=""/>
          <p:cNvGraphicFramePr/>
          <p:nvPr/>
        </p:nvGraphicFramePr>
        <p:xfrm>
          <a:off x="457200" y="1280160"/>
          <a:ext cx="566928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217920" y="1280160"/>
          <a:ext cx="5486400" cy="402336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548640" y="5486400"/>
            <a:ext cx="11064240" cy="73152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Within budget for every feasible budget (₹750+); ₹500 flagged INFEASIBLE. At ₹2000: ₹1995.80 renting, 8.903 s (original 3.986 s), SLA penalties raise total cost.</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B2A4A"/>
                </a:solidFill>
                <a:latin typeface="Cambria" pitchFamily="34" charset="0"/>
                <a:ea typeface="Cambria" pitchFamily="34" charset="-122"/>
                <a:cs typeface="Cambria" pitchFamily="34" charset="-120"/>
              </a:rPr>
              <a:t>Every decision is explained from recorded numbers</a:t>
            </a:r>
            <a:endParaRPr lang="en-US" sz="3000" dirty="0"/>
          </a:p>
        </p:txBody>
      </p:sp>
      <p:sp>
        <p:nvSpPr>
          <p:cNvPr id="3" name="Shape 1"/>
          <p:cNvSpPr/>
          <p:nvPr/>
        </p:nvSpPr>
        <p:spPr>
          <a:xfrm>
            <a:off x="548640" y="1371600"/>
            <a:ext cx="11064240" cy="2377440"/>
          </a:xfrm>
          <a:prstGeom prst="roundRect">
            <a:avLst>
              <a:gd name="adj" fmla="val 4615"/>
            </a:avLst>
          </a:prstGeom>
          <a:solidFill>
            <a:srgbClr val="FDECEC"/>
          </a:solidFill>
          <a:ln w="12700">
            <a:solidFill>
              <a:srgbClr val="FDECEC"/>
            </a:solidFill>
            <a:prstDash val="solid"/>
          </a:ln>
        </p:spPr>
      </p:sp>
      <p:sp>
        <p:nvSpPr>
          <p:cNvPr id="4" name="Text 2"/>
          <p:cNvSpPr txBox="1"/>
          <p:nvPr/>
        </p:nvSpPr>
        <p:spPr>
          <a:xfrm>
            <a:off x="822960" y="1508760"/>
            <a:ext cx="10515600" cy="411480"/>
          </a:xfrm>
          <a:prstGeom prst="rect">
            <a:avLst/>
          </a:prstGeom>
          <a:noFill/>
          <a:ln/>
        </p:spPr>
        <p:txBody>
          <a:bodyPr wrap="square" lIns="0" tIns="0" rIns="0" bIns="0" rtlCol="0" anchor="t"/>
          <a:lstStyle/>
          <a:p>
            <a:pPr indent="0" marL="0">
              <a:buNone/>
            </a:pPr>
            <a:r>
              <a:rPr lang="en-US" sz="1600" b="1" dirty="0">
                <a:solidFill>
                  <a:srgbClr val="C62828"/>
                </a:solidFill>
                <a:latin typeface="Calibri" pitchFamily="34" charset="0"/>
                <a:ea typeface="Calibri" pitchFamily="34" charset="-122"/>
                <a:cs typeface="Calibri" pitchFamily="34" charset="-120"/>
              </a:rPr>
              <a:t>SATURDAY 00:20 · 3 VMs · original SCALE_UP → guard DO_NOTHING · CONFLICT</a:t>
            </a:r>
            <a:endParaRPr lang="en-US" sz="1600" dirty="0"/>
          </a:p>
        </p:txBody>
      </p:sp>
      <p:sp>
        <p:nvSpPr>
          <p:cNvPr id="5" name="Text 3"/>
          <p:cNvSpPr txBox="1"/>
          <p:nvPr/>
        </p:nvSpPr>
        <p:spPr>
          <a:xfrm>
            <a:off x="822960" y="1965960"/>
            <a:ext cx="10515600" cy="1691640"/>
          </a:xfrm>
          <a:prstGeom prst="rect">
            <a:avLst/>
          </a:prstGeom>
          <a:noFill/>
          <a:ln/>
        </p:spPr>
        <p:txBody>
          <a:bodyPr wrap="square" lIns="0" tIns="0" rIns="0" bIns="0" rtlCol="0" anchor="t"/>
          <a:lstStyle/>
          <a:p>
            <a:pPr indent="0" marL="0">
              <a:buNone/>
            </a:pPr>
            <a:r>
              <a:rPr lang="en-US" sz="1600" i="1" dirty="0">
                <a:solidFill>
                  <a:srgbClr val="1F2328"/>
                </a:solidFill>
                <a:latin typeface="Calibri" pitchFamily="34" charset="0"/>
                <a:ea typeface="Calibri" pitchFamily="34" charset="-122"/>
                <a:cs typeface="Calibri" pitchFamily="34" charset="-120"/>
              </a:rPr>
              <a:t>"Analysed delay time 2.812 s was above the scale-up threshold (1.00 s), so the original SLA-aware rule decided SCALE_UP. Adding one VM would raise committed renting cost to ₹13.60 (one more billed hour costs ₹3.40), above the paced allowance of ₹12.47, so the guard keeps the current 3 VM(s). Observed response time 4.812 s misses the 4.00 s target. WARNING: budget and performance target conflict here."</a:t>
            </a:r>
            <a:endParaRPr lang="en-US" sz="1600" dirty="0"/>
          </a:p>
        </p:txBody>
      </p:sp>
      <p:sp>
        <p:nvSpPr>
          <p:cNvPr id="6" name="Text 4"/>
          <p:cNvSpPr txBox="1"/>
          <p:nvPr/>
        </p:nvSpPr>
        <p:spPr>
          <a:xfrm>
            <a:off x="548640" y="4114800"/>
            <a:ext cx="3474720" cy="868680"/>
          </a:xfrm>
          <a:prstGeom prst="rect">
            <a:avLst/>
          </a:prstGeom>
          <a:noFill/>
          <a:ln/>
        </p:spPr>
        <p:txBody>
          <a:bodyPr wrap="square" lIns="0" tIns="0" rIns="0" bIns="0" rtlCol="0" anchor="t"/>
          <a:lstStyle/>
          <a:p>
            <a:pPr indent="0" marL="0">
              <a:buNone/>
            </a:pPr>
            <a:r>
              <a:rPr lang="en-US" sz="4400" b="1" dirty="0">
                <a:solidFill>
                  <a:srgbClr val="EB6834"/>
                </a:solidFill>
                <a:latin typeface="Cambria" pitchFamily="34" charset="0"/>
                <a:ea typeface="Cambria" pitchFamily="34" charset="-122"/>
                <a:cs typeface="Cambria" pitchFamily="34" charset="-120"/>
              </a:rPr>
              <a:t>1008</a:t>
            </a:r>
            <a:endParaRPr lang="en-US" sz="4400" dirty="0"/>
          </a:p>
        </p:txBody>
      </p:sp>
      <p:sp>
        <p:nvSpPr>
          <p:cNvPr id="7" name="Text 5"/>
          <p:cNvSpPr txBox="1"/>
          <p:nvPr/>
        </p:nvSpPr>
        <p:spPr>
          <a:xfrm>
            <a:off x="548640" y="4983480"/>
            <a:ext cx="3474720" cy="640080"/>
          </a:xfrm>
          <a:prstGeom prst="rect">
            <a:avLst/>
          </a:prstGeom>
          <a:noFill/>
          <a:ln/>
        </p:spPr>
        <p:txBody>
          <a:bodyPr wrap="square" lIns="0" tIns="0" rIns="0" bIns="0" rtlCol="0" anchor="t"/>
          <a:lstStyle/>
          <a:p>
            <a:pPr indent="0" marL="0">
              <a:buNone/>
            </a:pPr>
            <a:r>
              <a:rPr lang="en-US" sz="1400" dirty="0">
                <a:solidFill>
                  <a:srgbClr val="57606A"/>
                </a:solidFill>
                <a:latin typeface="Calibri" pitchFamily="34" charset="0"/>
                <a:ea typeface="Calibri" pitchFamily="34" charset="-122"/>
                <a:cs typeface="Calibri" pitchFamily="34" charset="-120"/>
              </a:rPr>
              <a:t>decisions explained per 7-day run</a:t>
            </a:r>
            <a:endParaRPr lang="en-US" sz="1400" dirty="0"/>
          </a:p>
        </p:txBody>
      </p:sp>
      <p:sp>
        <p:nvSpPr>
          <p:cNvPr id="8" name="Text 6"/>
          <p:cNvSpPr txBox="1"/>
          <p:nvPr/>
        </p:nvSpPr>
        <p:spPr>
          <a:xfrm>
            <a:off x="4297680" y="4114800"/>
            <a:ext cx="3474720" cy="868680"/>
          </a:xfrm>
          <a:prstGeom prst="rect">
            <a:avLst/>
          </a:prstGeom>
          <a:noFill/>
          <a:ln/>
        </p:spPr>
        <p:txBody>
          <a:bodyPr wrap="square" lIns="0" tIns="0" rIns="0" bIns="0" rtlCol="0" anchor="t"/>
          <a:lstStyle/>
          <a:p>
            <a:pPr indent="0" marL="0">
              <a:buNone/>
            </a:pPr>
            <a:r>
              <a:rPr lang="en-US" sz="4400" b="1" dirty="0">
                <a:solidFill>
                  <a:srgbClr val="1B2A4A"/>
                </a:solidFill>
                <a:latin typeface="Cambria" pitchFamily="34" charset="0"/>
                <a:ea typeface="Cambria" pitchFamily="34" charset="-122"/>
                <a:cs typeface="Cambria" pitchFamily="34" charset="-120"/>
              </a:rPr>
              <a:t>6</a:t>
            </a:r>
            <a:endParaRPr lang="en-US" sz="4400" dirty="0"/>
          </a:p>
        </p:txBody>
      </p:sp>
      <p:sp>
        <p:nvSpPr>
          <p:cNvPr id="9" name="Text 7"/>
          <p:cNvSpPr txBox="1"/>
          <p:nvPr/>
        </p:nvSpPr>
        <p:spPr>
          <a:xfrm>
            <a:off x="4297680" y="4983480"/>
            <a:ext cx="3474720" cy="640080"/>
          </a:xfrm>
          <a:prstGeom prst="rect">
            <a:avLst/>
          </a:prstGeom>
          <a:noFill/>
          <a:ln/>
        </p:spPr>
        <p:txBody>
          <a:bodyPr wrap="square" lIns="0" tIns="0" rIns="0" bIns="0" rtlCol="0" anchor="t"/>
          <a:lstStyle/>
          <a:p>
            <a:pPr indent="0" marL="0">
              <a:buNone/>
            </a:pPr>
            <a:r>
              <a:rPr lang="en-US" sz="1400" dirty="0">
                <a:solidFill>
                  <a:srgbClr val="57606A"/>
                </a:solidFill>
                <a:latin typeface="Calibri" pitchFamily="34" charset="0"/>
                <a:ea typeface="Calibri" pitchFamily="34" charset="-122"/>
                <a:cs typeface="Calibri" pitchFamily="34" charset="-120"/>
              </a:rPr>
              <a:t>status types, filterable in the dashboard</a:t>
            </a:r>
            <a:endParaRPr lang="en-US" sz="1400" dirty="0"/>
          </a:p>
        </p:txBody>
      </p:sp>
      <p:sp>
        <p:nvSpPr>
          <p:cNvPr id="10" name="Text 8"/>
          <p:cNvSpPr txBox="1"/>
          <p:nvPr/>
        </p:nvSpPr>
        <p:spPr>
          <a:xfrm>
            <a:off x="8046720" y="4114800"/>
            <a:ext cx="3474720" cy="868680"/>
          </a:xfrm>
          <a:prstGeom prst="rect">
            <a:avLst/>
          </a:prstGeom>
          <a:noFill/>
          <a:ln/>
        </p:spPr>
        <p:txBody>
          <a:bodyPr wrap="square" lIns="0" tIns="0" rIns="0" bIns="0" rtlCol="0" anchor="t"/>
          <a:lstStyle/>
          <a:p>
            <a:pPr indent="0" marL="0">
              <a:buNone/>
            </a:pPr>
            <a:r>
              <a:rPr lang="en-US" sz="4400" b="1" dirty="0">
                <a:solidFill>
                  <a:srgbClr val="1B2A4A"/>
                </a:solidFill>
                <a:latin typeface="Cambria" pitchFamily="34" charset="0"/>
                <a:ea typeface="Cambria" pitchFamily="34" charset="-122"/>
                <a:cs typeface="Cambria" pitchFamily="34" charset="-120"/>
              </a:rPr>
              <a:t>CSV + HTML</a:t>
            </a:r>
            <a:endParaRPr lang="en-US" sz="4400" dirty="0"/>
          </a:p>
        </p:txBody>
      </p:sp>
      <p:sp>
        <p:nvSpPr>
          <p:cNvPr id="11" name="Text 9"/>
          <p:cNvSpPr txBox="1"/>
          <p:nvPr/>
        </p:nvSpPr>
        <p:spPr>
          <a:xfrm>
            <a:off x="8046720" y="4983480"/>
            <a:ext cx="3474720" cy="640080"/>
          </a:xfrm>
          <a:prstGeom prst="rect">
            <a:avLst/>
          </a:prstGeom>
          <a:noFill/>
          <a:ln/>
        </p:spPr>
        <p:txBody>
          <a:bodyPr wrap="square" lIns="0" tIns="0" rIns="0" bIns="0" rtlCol="0" anchor="t"/>
          <a:lstStyle/>
          <a:p>
            <a:pPr indent="0" marL="0">
              <a:buNone/>
            </a:pPr>
            <a:r>
              <a:rPr lang="en-US" sz="1400" dirty="0">
                <a:solidFill>
                  <a:srgbClr val="57606A"/>
                </a:solidFill>
                <a:latin typeface="Calibri" pitchFamily="34" charset="0"/>
                <a:ea typeface="Calibri" pitchFamily="34" charset="-122"/>
                <a:cs typeface="Calibri" pitchFamily="34" charset="-120"/>
              </a:rPr>
              <a:t>downloadable decision log and report</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B2A4A"/>
                </a:solidFill>
                <a:latin typeface="Cambria" pitchFamily="34" charset="0"/>
                <a:ea typeface="Cambria" pitchFamily="34" charset="-122"/>
                <a:cs typeface="Cambria" pitchFamily="34" charset="-120"/>
              </a:rPr>
              <a:t>Upload a workload, forecast it, warn before spikes</a:t>
            </a:r>
            <a:endParaRPr lang="en-US" sz="3000" dirty="0"/>
          </a:p>
        </p:txBody>
      </p:sp>
      <p:sp>
        <p:nvSpPr>
          <p:cNvPr id="3" name="Shape 1"/>
          <p:cNvSpPr/>
          <p:nvPr/>
        </p:nvSpPr>
        <p:spPr>
          <a:xfrm>
            <a:off x="548640" y="1325880"/>
            <a:ext cx="4206240" cy="1051560"/>
          </a:xfrm>
          <a:prstGeom prst="roundRect">
            <a:avLst>
              <a:gd name="adj" fmla="val 10435"/>
            </a:avLst>
          </a:prstGeom>
          <a:solidFill>
            <a:srgbClr val="F3F6FB"/>
          </a:solidFill>
          <a:ln w="12700">
            <a:solidFill>
              <a:srgbClr val="F3F6FB"/>
            </a:solidFill>
            <a:prstDash val="solid"/>
          </a:ln>
        </p:spPr>
      </p:sp>
      <p:sp>
        <p:nvSpPr>
          <p:cNvPr id="4" name="Text 2"/>
          <p:cNvSpPr txBox="1"/>
          <p:nvPr/>
        </p:nvSpPr>
        <p:spPr>
          <a:xfrm>
            <a:off x="777240" y="1417320"/>
            <a:ext cx="3840480" cy="365760"/>
          </a:xfrm>
          <a:prstGeom prst="rect">
            <a:avLst/>
          </a:prstGeom>
          <a:noFill/>
          <a:ln/>
        </p:spPr>
        <p:txBody>
          <a:bodyPr wrap="square" lIns="0" tIns="0" rIns="0" bIns="0" rtlCol="0" anchor="t"/>
          <a:lstStyle/>
          <a:p>
            <a:pPr indent="0" marL="0">
              <a:buNone/>
            </a:pPr>
            <a:r>
              <a:rPr lang="en-US" sz="1700" b="1" dirty="0">
                <a:solidFill>
                  <a:srgbClr val="1B2A4A"/>
                </a:solidFill>
                <a:latin typeface="Calibri" pitchFamily="34" charset="0"/>
                <a:ea typeface="Calibri" pitchFamily="34" charset="-122"/>
                <a:cs typeface="Calibri" pitchFamily="34" charset="-120"/>
              </a:rPr>
              <a:t>Upload CSV</a:t>
            </a:r>
            <a:endParaRPr lang="en-US" sz="1700" dirty="0"/>
          </a:p>
        </p:txBody>
      </p:sp>
      <p:sp>
        <p:nvSpPr>
          <p:cNvPr id="5" name="Text 3"/>
          <p:cNvSpPr txBox="1"/>
          <p:nvPr/>
        </p:nvSpPr>
        <p:spPr>
          <a:xfrm>
            <a:off x="777240" y="1783080"/>
            <a:ext cx="3840480" cy="548640"/>
          </a:xfrm>
          <a:prstGeom prst="rect">
            <a:avLst/>
          </a:prstGeom>
          <a:noFill/>
          <a:ln/>
        </p:spPr>
        <p:txBody>
          <a:bodyPr wrap="square" lIns="0" tIns="0" rIns="0" bIns="0" rtlCol="0" anchor="t"/>
          <a:lstStyle/>
          <a:p>
            <a:pPr indent="0" marL="0">
              <a:buNone/>
            </a:pPr>
            <a:r>
              <a:rPr lang="en-US" sz="1400" dirty="0">
                <a:solidFill>
                  <a:srgbClr val="57606A"/>
                </a:solidFill>
                <a:latin typeface="Calibri" pitchFamily="34" charset="0"/>
                <a:ea typeface="Calibri" pitchFamily="34" charset="-122"/>
                <a:cs typeface="Calibri" pitchFamily="34" charset="-120"/>
              </a:rPr>
              <a:t>Per-minute counts or a request log; validated, stored in the database</a:t>
            </a:r>
            <a:endParaRPr lang="en-US" sz="1400" dirty="0"/>
          </a:p>
        </p:txBody>
      </p:sp>
      <p:sp>
        <p:nvSpPr>
          <p:cNvPr id="6" name="Shape 4"/>
          <p:cNvSpPr/>
          <p:nvPr/>
        </p:nvSpPr>
        <p:spPr>
          <a:xfrm>
            <a:off x="548640" y="2514600"/>
            <a:ext cx="4206240" cy="1051560"/>
          </a:xfrm>
          <a:prstGeom prst="roundRect">
            <a:avLst>
              <a:gd name="adj" fmla="val 10435"/>
            </a:avLst>
          </a:prstGeom>
          <a:solidFill>
            <a:srgbClr val="F3F6FB"/>
          </a:solidFill>
          <a:ln w="12700">
            <a:solidFill>
              <a:srgbClr val="F3F6FB"/>
            </a:solidFill>
            <a:prstDash val="solid"/>
          </a:ln>
        </p:spPr>
      </p:sp>
      <p:sp>
        <p:nvSpPr>
          <p:cNvPr id="7" name="Text 5"/>
          <p:cNvSpPr txBox="1"/>
          <p:nvPr/>
        </p:nvSpPr>
        <p:spPr>
          <a:xfrm>
            <a:off x="777240" y="2606040"/>
            <a:ext cx="3840480" cy="365760"/>
          </a:xfrm>
          <a:prstGeom prst="rect">
            <a:avLst/>
          </a:prstGeom>
          <a:noFill/>
          <a:ln/>
        </p:spPr>
        <p:txBody>
          <a:bodyPr wrap="square" lIns="0" tIns="0" rIns="0" bIns="0" rtlCol="0" anchor="t"/>
          <a:lstStyle/>
          <a:p>
            <a:pPr indent="0" marL="0">
              <a:buNone/>
            </a:pPr>
            <a:r>
              <a:rPr lang="en-US" sz="1700" b="1" dirty="0">
                <a:solidFill>
                  <a:srgbClr val="1B2A4A"/>
                </a:solidFill>
                <a:latin typeface="Calibri" pitchFamily="34" charset="0"/>
                <a:ea typeface="Calibri" pitchFamily="34" charset="-122"/>
                <a:cs typeface="Calibri" pitchFamily="34" charset="-120"/>
              </a:rPr>
              <a:t>Replay</a:t>
            </a:r>
            <a:endParaRPr lang="en-US" sz="1700" dirty="0"/>
          </a:p>
        </p:txBody>
      </p:sp>
      <p:sp>
        <p:nvSpPr>
          <p:cNvPr id="8" name="Text 6"/>
          <p:cNvSpPr txBox="1"/>
          <p:nvPr/>
        </p:nvSpPr>
        <p:spPr>
          <a:xfrm>
            <a:off x="777240" y="2971800"/>
            <a:ext cx="3840480" cy="548640"/>
          </a:xfrm>
          <a:prstGeom prst="rect">
            <a:avLst/>
          </a:prstGeom>
          <a:noFill/>
          <a:ln/>
        </p:spPr>
        <p:txBody>
          <a:bodyPr wrap="square" lIns="0" tIns="0" rIns="0" bIns="0" rtlCol="0" anchor="t"/>
          <a:lstStyle/>
          <a:p>
            <a:pPr indent="0" marL="0">
              <a:buNone/>
            </a:pPr>
            <a:r>
              <a:rPr lang="en-US" sz="1400" dirty="0">
                <a:solidFill>
                  <a:srgbClr val="57606A"/>
                </a:solidFill>
                <a:latin typeface="Calibri" pitchFamily="34" charset="0"/>
                <a:ea typeface="Calibri" pitchFamily="34" charset="-122"/>
                <a:cs typeface="Calibri" pitchFamily="34" charset="-120"/>
              </a:rPr>
              <a:t>Converted to the exact NASA trace format; unmodified emulator replays it</a:t>
            </a:r>
            <a:endParaRPr lang="en-US" sz="1400" dirty="0"/>
          </a:p>
        </p:txBody>
      </p:sp>
      <p:sp>
        <p:nvSpPr>
          <p:cNvPr id="9" name="Shape 7"/>
          <p:cNvSpPr/>
          <p:nvPr/>
        </p:nvSpPr>
        <p:spPr>
          <a:xfrm>
            <a:off x="548640" y="3703320"/>
            <a:ext cx="4206240" cy="1051560"/>
          </a:xfrm>
          <a:prstGeom prst="roundRect">
            <a:avLst>
              <a:gd name="adj" fmla="val 10435"/>
            </a:avLst>
          </a:prstGeom>
          <a:solidFill>
            <a:srgbClr val="E5F6EF"/>
          </a:solidFill>
          <a:ln w="12700">
            <a:solidFill>
              <a:srgbClr val="E5F6EF"/>
            </a:solidFill>
            <a:prstDash val="solid"/>
          </a:ln>
        </p:spPr>
      </p:sp>
      <p:sp>
        <p:nvSpPr>
          <p:cNvPr id="10" name="Text 8"/>
          <p:cNvSpPr txBox="1"/>
          <p:nvPr/>
        </p:nvSpPr>
        <p:spPr>
          <a:xfrm>
            <a:off x="777240" y="3794760"/>
            <a:ext cx="3840480" cy="365760"/>
          </a:xfrm>
          <a:prstGeom prst="rect">
            <a:avLst/>
          </a:prstGeom>
          <a:noFill/>
          <a:ln/>
        </p:spPr>
        <p:txBody>
          <a:bodyPr wrap="square" lIns="0" tIns="0" rIns="0" bIns="0" rtlCol="0" anchor="t"/>
          <a:lstStyle/>
          <a:p>
            <a:pPr indent="0" marL="0">
              <a:buNone/>
            </a:pPr>
            <a:r>
              <a:rPr lang="en-US" sz="1700" b="1" dirty="0">
                <a:solidFill>
                  <a:srgbClr val="1BAF7A"/>
                </a:solidFill>
                <a:latin typeface="Calibri" pitchFamily="34" charset="0"/>
                <a:ea typeface="Calibri" pitchFamily="34" charset="-122"/>
                <a:cs typeface="Calibri" pitchFamily="34" charset="-120"/>
              </a:rPr>
              <a:t>Forecast</a:t>
            </a:r>
            <a:endParaRPr lang="en-US" sz="1700" dirty="0"/>
          </a:p>
        </p:txBody>
      </p:sp>
      <p:sp>
        <p:nvSpPr>
          <p:cNvPr id="11" name="Text 9"/>
          <p:cNvSpPr txBox="1"/>
          <p:nvPr/>
        </p:nvSpPr>
        <p:spPr>
          <a:xfrm>
            <a:off x="777240" y="4160520"/>
            <a:ext cx="3840480" cy="548640"/>
          </a:xfrm>
          <a:prstGeom prst="rect">
            <a:avLst/>
          </a:prstGeom>
          <a:noFill/>
          <a:ln/>
        </p:spPr>
        <p:txBody>
          <a:bodyPr wrap="square" lIns="0" tIns="0" rIns="0" bIns="0" rtlCol="0" anchor="t"/>
          <a:lstStyle/>
          <a:p>
            <a:pPr indent="0" marL="0">
              <a:buNone/>
            </a:pPr>
            <a:r>
              <a:rPr lang="en-US" sz="1400" dirty="0">
                <a:solidFill>
                  <a:srgbClr val="57606A"/>
                </a:solidFill>
                <a:latin typeface="Calibri" pitchFamily="34" charset="0"/>
                <a:ea typeface="Calibri" pitchFamily="34" charset="-122"/>
                <a:cs typeface="Calibri" pitchFamily="34" charset="-120"/>
              </a:rPr>
              <a:t>Holt-Winters with daily season and damped trend; grid-searched</a:t>
            </a:r>
            <a:endParaRPr lang="en-US" sz="1400" dirty="0"/>
          </a:p>
        </p:txBody>
      </p:sp>
      <p:sp>
        <p:nvSpPr>
          <p:cNvPr id="12" name="Shape 10"/>
          <p:cNvSpPr/>
          <p:nvPr/>
        </p:nvSpPr>
        <p:spPr>
          <a:xfrm>
            <a:off x="548640" y="4892040"/>
            <a:ext cx="4206240" cy="1051560"/>
          </a:xfrm>
          <a:prstGeom prst="roundRect">
            <a:avLst>
              <a:gd name="adj" fmla="val 10435"/>
            </a:avLst>
          </a:prstGeom>
          <a:solidFill>
            <a:srgbClr val="F3F6FB"/>
          </a:solidFill>
          <a:ln w="12700">
            <a:solidFill>
              <a:srgbClr val="F3F6FB"/>
            </a:solidFill>
            <a:prstDash val="solid"/>
          </a:ln>
        </p:spPr>
      </p:sp>
      <p:sp>
        <p:nvSpPr>
          <p:cNvPr id="13" name="Text 11"/>
          <p:cNvSpPr txBox="1"/>
          <p:nvPr/>
        </p:nvSpPr>
        <p:spPr>
          <a:xfrm>
            <a:off x="777240" y="4983480"/>
            <a:ext cx="3840480" cy="365760"/>
          </a:xfrm>
          <a:prstGeom prst="rect">
            <a:avLst/>
          </a:prstGeom>
          <a:noFill/>
          <a:ln/>
        </p:spPr>
        <p:txBody>
          <a:bodyPr wrap="square" lIns="0" tIns="0" rIns="0" bIns="0" rtlCol="0" anchor="t"/>
          <a:lstStyle/>
          <a:p>
            <a:pPr indent="0" marL="0">
              <a:buNone/>
            </a:pPr>
            <a:r>
              <a:rPr lang="en-US" sz="1700" b="1" dirty="0">
                <a:solidFill>
                  <a:srgbClr val="1B2A4A"/>
                </a:solidFill>
                <a:latin typeface="Calibri" pitchFamily="34" charset="0"/>
                <a:ea typeface="Calibri" pitchFamily="34" charset="-122"/>
                <a:cs typeface="Calibri" pitchFamily="34" charset="-120"/>
              </a:rPr>
              <a:t>Warn + size</a:t>
            </a:r>
            <a:endParaRPr lang="en-US" sz="1700" dirty="0"/>
          </a:p>
        </p:txBody>
      </p:sp>
      <p:sp>
        <p:nvSpPr>
          <p:cNvPr id="14" name="Text 12"/>
          <p:cNvSpPr txBox="1"/>
          <p:nvPr/>
        </p:nvSpPr>
        <p:spPr>
          <a:xfrm>
            <a:off x="777240" y="5349240"/>
            <a:ext cx="3840480" cy="548640"/>
          </a:xfrm>
          <a:prstGeom prst="rect">
            <a:avLst/>
          </a:prstGeom>
          <a:noFill/>
          <a:ln/>
        </p:spPr>
        <p:txBody>
          <a:bodyPr wrap="square" lIns="0" tIns="0" rIns="0" bIns="0" rtlCol="0" anchor="t"/>
          <a:lstStyle/>
          <a:p>
            <a:pPr indent="0" marL="0">
              <a:buNone/>
            </a:pPr>
            <a:r>
              <a:rPr lang="en-US" sz="1400" dirty="0">
                <a:solidFill>
                  <a:srgbClr val="57606A"/>
                </a:solidFill>
                <a:latin typeface="Calibri" pitchFamily="34" charset="0"/>
                <a:ea typeface="Calibri" pitchFamily="34" charset="-122"/>
                <a:cs typeface="Calibri" pitchFamily="34" charset="-120"/>
              </a:rPr>
              <a:t>Spike = 2-h mean + 2.5σ; warning 30 min ahead; VMs and ₹ cost</a:t>
            </a:r>
            <a:endParaRPr lang="en-US" sz="1400" dirty="0"/>
          </a:p>
        </p:txBody>
      </p:sp>
      <p:pic>
        <p:nvPicPr>
          <p:cNvPr id="15" name="Image 0" descr="/home/user/work/AutoScaleSim/docs/figures/shot_workload.png">    </p:cNvPr>
          <p:cNvPicPr>
            <a:picLocks noChangeAspect="1"/>
          </p:cNvPicPr>
          <p:nvPr/>
        </p:nvPicPr>
        <p:blipFill>
          <a:blip r:embed="rId1"/>
          <a:srcRect l="0" r="0" t="0" b="0"/>
          <a:stretch/>
        </p:blipFill>
        <p:spPr>
          <a:xfrm>
            <a:off x="5029200" y="1325880"/>
            <a:ext cx="6583680" cy="4846320"/>
          </a:xfrm>
          <a:prstGeom prst="rect">
            <a:avLst/>
          </a:prstGeom>
        </p:spPr>
      </p:pic>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B2A4A"/>
                </a:solidFill>
                <a:latin typeface="Cambria" pitchFamily="34" charset="0"/>
                <a:ea typeface="Cambria" pitchFamily="34" charset="-122"/>
                <a:cs typeface="Cambria" pitchFamily="34" charset="-120"/>
              </a:rPr>
              <a:t>Forecasting helps planning, but spikes stay hard to predict</a:t>
            </a:r>
            <a:endParaRPr lang="en-US" sz="3000" dirty="0"/>
          </a:p>
        </p:txBody>
      </p:sp>
      <p:graphicFrame>
        <p:nvGraphicFramePr>
          <p:cNvPr id="3" name="Chart 0" descr=""/>
          <p:cNvGraphicFramePr/>
          <p:nvPr/>
        </p:nvGraphicFramePr>
        <p:xfrm>
          <a:off x="457200" y="128016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589520" y="1371600"/>
            <a:ext cx="4023360" cy="868680"/>
          </a:xfrm>
          <a:prstGeom prst="rect">
            <a:avLst/>
          </a:prstGeom>
          <a:noFill/>
          <a:ln/>
        </p:spPr>
        <p:txBody>
          <a:bodyPr wrap="square" lIns="0" tIns="0" rIns="0" bIns="0" rtlCol="0" anchor="t"/>
          <a:lstStyle/>
          <a:p>
            <a:pPr indent="0" marL="0">
              <a:buNone/>
            </a:pPr>
            <a:r>
              <a:rPr lang="en-US" sz="4400" b="1" dirty="0">
                <a:solidFill>
                  <a:srgbClr val="1BAF7A"/>
                </a:solidFill>
                <a:latin typeface="Cambria" pitchFamily="34" charset="0"/>
                <a:ea typeface="Cambria" pitchFamily="34" charset="-122"/>
                <a:cs typeface="Cambria" pitchFamily="34" charset="-120"/>
              </a:rPr>
              <a:t>0.37–0.58</a:t>
            </a:r>
            <a:endParaRPr lang="en-US" sz="4400" dirty="0"/>
          </a:p>
        </p:txBody>
      </p:sp>
      <p:sp>
        <p:nvSpPr>
          <p:cNvPr id="5" name="Text 2"/>
          <p:cNvSpPr txBox="1"/>
          <p:nvPr/>
        </p:nvSpPr>
        <p:spPr>
          <a:xfrm>
            <a:off x="7589520" y="2240280"/>
            <a:ext cx="4023360" cy="640080"/>
          </a:xfrm>
          <a:prstGeom prst="rect">
            <a:avLst/>
          </a:prstGeom>
          <a:noFill/>
          <a:ln/>
        </p:spPr>
        <p:txBody>
          <a:bodyPr wrap="square" lIns="0" tIns="0" rIns="0" bIns="0" rtlCol="0" anchor="t"/>
          <a:lstStyle/>
          <a:p>
            <a:pPr indent="0" marL="0">
              <a:buNone/>
            </a:pPr>
            <a:r>
              <a:rPr lang="en-US" sz="1400" dirty="0">
                <a:solidFill>
                  <a:srgbClr val="57606A"/>
                </a:solidFill>
                <a:latin typeface="Calibri" pitchFamily="34" charset="0"/>
                <a:ea typeface="Calibri" pitchFamily="34" charset="-122"/>
                <a:cs typeface="Calibri" pitchFamily="34" charset="-120"/>
              </a:rPr>
              <a:t>recall: share of real spikes warned 10–60 min ahead (NASA weeks 2–4)</a:t>
            </a:r>
            <a:endParaRPr lang="en-US" sz="1400" dirty="0"/>
          </a:p>
        </p:txBody>
      </p:sp>
      <p:sp>
        <p:nvSpPr>
          <p:cNvPr id="6" name="Text 3"/>
          <p:cNvSpPr txBox="1"/>
          <p:nvPr/>
        </p:nvSpPr>
        <p:spPr>
          <a:xfrm>
            <a:off x="7589520" y="2971800"/>
            <a:ext cx="4023360" cy="868680"/>
          </a:xfrm>
          <a:prstGeom prst="rect">
            <a:avLst/>
          </a:prstGeom>
          <a:noFill/>
          <a:ln/>
        </p:spPr>
        <p:txBody>
          <a:bodyPr wrap="square" lIns="0" tIns="0" rIns="0" bIns="0" rtlCol="0" anchor="t"/>
          <a:lstStyle/>
          <a:p>
            <a:pPr indent="0" marL="0">
              <a:buNone/>
            </a:pPr>
            <a:r>
              <a:rPr lang="en-US" sz="4400" b="1" dirty="0">
                <a:solidFill>
                  <a:srgbClr val="C62828"/>
                </a:solidFill>
                <a:latin typeface="Cambria" pitchFamily="34" charset="0"/>
                <a:ea typeface="Cambria" pitchFamily="34" charset="-122"/>
                <a:cs typeface="Cambria" pitchFamily="34" charset="-120"/>
              </a:rPr>
              <a:t>0.11–0.21</a:t>
            </a:r>
            <a:endParaRPr lang="en-US" sz="4400" dirty="0"/>
          </a:p>
        </p:txBody>
      </p:sp>
      <p:sp>
        <p:nvSpPr>
          <p:cNvPr id="7" name="Text 4"/>
          <p:cNvSpPr txBox="1"/>
          <p:nvPr/>
        </p:nvSpPr>
        <p:spPr>
          <a:xfrm>
            <a:off x="7589520" y="3840480"/>
            <a:ext cx="4023360" cy="640080"/>
          </a:xfrm>
          <a:prstGeom prst="rect">
            <a:avLst/>
          </a:prstGeom>
          <a:noFill/>
          <a:ln/>
        </p:spPr>
        <p:txBody>
          <a:bodyPr wrap="square" lIns="0" tIns="0" rIns="0" bIns="0" rtlCol="0" anchor="t"/>
          <a:lstStyle/>
          <a:p>
            <a:pPr indent="0" marL="0">
              <a:buNone/>
            </a:pPr>
            <a:r>
              <a:rPr lang="en-US" sz="1400" dirty="0">
                <a:solidFill>
                  <a:srgbClr val="57606A"/>
                </a:solidFill>
                <a:latin typeface="Calibri" pitchFamily="34" charset="0"/>
                <a:ea typeface="Calibri" pitchFamily="34" charset="-122"/>
                <a:cs typeface="Calibri" pitchFamily="34" charset="-120"/>
              </a:rPr>
              <a:t>precision: most warnings are false alarms</a:t>
            </a:r>
            <a:endParaRPr lang="en-US" sz="1400" dirty="0"/>
          </a:p>
        </p:txBody>
      </p:sp>
      <p:sp>
        <p:nvSpPr>
          <p:cNvPr id="8" name="Text 5"/>
          <p:cNvSpPr txBox="1"/>
          <p:nvPr/>
        </p:nvSpPr>
        <p:spPr>
          <a:xfrm>
            <a:off x="7589520" y="4572000"/>
            <a:ext cx="4023360" cy="868680"/>
          </a:xfrm>
          <a:prstGeom prst="rect">
            <a:avLst/>
          </a:prstGeom>
          <a:noFill/>
          <a:ln/>
        </p:spPr>
        <p:txBody>
          <a:bodyPr wrap="square" lIns="0" tIns="0" rIns="0" bIns="0" rtlCol="0" anchor="t"/>
          <a:lstStyle/>
          <a:p>
            <a:pPr indent="0" marL="0">
              <a:buNone/>
            </a:pPr>
            <a:r>
              <a:rPr lang="en-US" sz="4400" b="1" dirty="0">
                <a:solidFill>
                  <a:srgbClr val="1B2A4A"/>
                </a:solidFill>
                <a:latin typeface="Cambria" pitchFamily="34" charset="0"/>
                <a:ea typeface="Cambria" pitchFamily="34" charset="-122"/>
                <a:cs typeface="Cambria" pitchFamily="34" charset="-120"/>
              </a:rPr>
              <a:t>±2 VMs</a:t>
            </a:r>
            <a:endParaRPr lang="en-US" sz="4400" dirty="0"/>
          </a:p>
        </p:txBody>
      </p:sp>
      <p:sp>
        <p:nvSpPr>
          <p:cNvPr id="9" name="Text 6"/>
          <p:cNvSpPr txBox="1"/>
          <p:nvPr/>
        </p:nvSpPr>
        <p:spPr>
          <a:xfrm>
            <a:off x="7589520" y="5440680"/>
            <a:ext cx="4023360" cy="640080"/>
          </a:xfrm>
          <a:prstGeom prst="rect">
            <a:avLst/>
          </a:prstGeom>
          <a:noFill/>
          <a:ln/>
        </p:spPr>
        <p:txBody>
          <a:bodyPr wrap="square" lIns="0" tIns="0" rIns="0" bIns="0" rtlCol="0" anchor="t"/>
          <a:lstStyle/>
          <a:p>
            <a:pPr indent="0" marL="0">
              <a:buNone/>
            </a:pPr>
            <a:r>
              <a:rPr lang="en-US" sz="1400" dirty="0">
                <a:solidFill>
                  <a:srgbClr val="57606A"/>
                </a:solidFill>
                <a:latin typeface="Calibri" pitchFamily="34" charset="0"/>
                <a:ea typeface="Calibri" pitchFamily="34" charset="-122"/>
                <a:cs typeface="Calibri" pitchFamily="34" charset="-120"/>
              </a:rPr>
              <a:t>estimated vs simulated peak fleet (cost 6–15 % low)</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B2A4A"/>
                </a:solidFill>
                <a:latin typeface="Cambria" pitchFamily="34" charset="0"/>
                <a:ea typeface="Cambria" pitchFamily="34" charset="-122"/>
                <a:cs typeface="Cambria" pitchFamily="34" charset="-120"/>
              </a:rPr>
              <a:t>One container: dashboard, API, database and simulator</a:t>
            </a:r>
            <a:endParaRPr lang="en-US" sz="3000" dirty="0"/>
          </a:p>
        </p:txBody>
      </p:sp>
      <p:pic>
        <p:nvPicPr>
          <p:cNvPr id="3" name="Image 0" descr="/home/user/work/AutoScaleSim/docs/figures/fig_architecture.png">    </p:cNvPr>
          <p:cNvPicPr>
            <a:picLocks noChangeAspect="1"/>
          </p:cNvPicPr>
          <p:nvPr/>
        </p:nvPicPr>
        <p:blipFill>
          <a:blip r:embed="rId1"/>
          <a:srcRect l="0" r="0" t="-595" b="-595"/>
          <a:stretch/>
        </p:blipFill>
        <p:spPr>
          <a:xfrm>
            <a:off x="457200" y="1280160"/>
            <a:ext cx="6766560" cy="3566160"/>
          </a:xfrm>
          <a:prstGeom prst="rect">
            <a:avLst/>
          </a:prstGeom>
        </p:spPr>
      </p:pic>
      <p:sp>
        <p:nvSpPr>
          <p:cNvPr id="4" name="Text 1"/>
          <p:cNvSpPr txBox="1"/>
          <p:nvPr/>
        </p:nvSpPr>
        <p:spPr>
          <a:xfrm>
            <a:off x="7498080" y="1371600"/>
            <a:ext cx="4206240" cy="42062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F2328"/>
                </a:solidFill>
                <a:latin typeface="Calibri" pitchFamily="34" charset="0"/>
                <a:ea typeface="Calibri" pitchFamily="34" charset="-122"/>
                <a:cs typeface="Calibri" pitchFamily="34" charset="-120"/>
              </a:rPr>
              <a:t>Java web server + JSON API, single-worker job queue</a:t>
            </a:r>
            <a:endParaRPr lang="en-US" sz="1500" dirty="0"/>
          </a:p>
          <a:p>
            <a:pPr marL="342900" indent="-342900">
              <a:spcAft>
                <a:spcPts val="1000"/>
              </a:spcAft>
              <a:buSzPct val="100000"/>
              <a:buChar char="•"/>
            </a:pPr>
            <a:r>
              <a:rPr lang="en-US" sz="1500" dirty="0">
                <a:solidFill>
                  <a:srgbClr val="1F2328"/>
                </a:solidFill>
                <a:latin typeface="Calibri" pitchFamily="34" charset="0"/>
                <a:ea typeface="Calibri" pitchFamily="34" charset="-122"/>
                <a:cs typeface="Calibri" pitchFamily="34" charset="-120"/>
              </a:rPr>
              <a:t>Database: SQLite on a volume; PostgreSQL via DATABASE_URL (tested on 16)</a:t>
            </a:r>
            <a:endParaRPr lang="en-US" sz="1500" dirty="0"/>
          </a:p>
          <a:p>
            <a:pPr marL="342900" indent="-342900">
              <a:spcAft>
                <a:spcPts val="1000"/>
              </a:spcAft>
              <a:buSzPct val="100000"/>
              <a:buChar char="•"/>
            </a:pPr>
            <a:r>
              <a:rPr lang="en-US" sz="1500" dirty="0">
                <a:solidFill>
                  <a:srgbClr val="1F2328"/>
                </a:solidFill>
                <a:latin typeface="Calibri" pitchFamily="34" charset="0"/>
                <a:ea typeface="Calibri" pitchFamily="34" charset="-122"/>
                <a:cs typeface="Calibri" pitchFamily="34" charset="-120"/>
              </a:rPr>
              <a:t>Docker image with health check</a:t>
            </a:r>
            <a:endParaRPr lang="en-US" sz="1500" dirty="0"/>
          </a:p>
          <a:p>
            <a:pPr marL="342900" indent="-342900">
              <a:spcAft>
                <a:spcPts val="1000"/>
              </a:spcAft>
              <a:buSzPct val="100000"/>
              <a:buChar char="•"/>
            </a:pPr>
            <a:r>
              <a:rPr lang="en-US" sz="1500" dirty="0">
                <a:solidFill>
                  <a:srgbClr val="1F2328"/>
                </a:solidFill>
                <a:latin typeface="Calibri" pitchFamily="34" charset="0"/>
                <a:ea typeface="Calibri" pitchFamily="34" charset="-122"/>
                <a:cs typeface="Calibri" pitchFamily="34" charset="-120"/>
              </a:rPr>
              <a:t>AWS CloudFormation: EC2 t3.small, HTTP only, Session Manager, encrypted disk</a:t>
            </a:r>
            <a:endParaRPr lang="en-US" sz="1500" dirty="0"/>
          </a:p>
          <a:p>
            <a:pPr marL="342900" indent="-342900">
              <a:spcAft>
                <a:spcPts val="1000"/>
              </a:spcAft>
              <a:buSzPct val="100000"/>
              <a:buChar char="•"/>
            </a:pPr>
            <a:r>
              <a:rPr lang="en-US" sz="1500" dirty="0">
                <a:solidFill>
                  <a:srgbClr val="1F2328"/>
                </a:solidFill>
                <a:latin typeface="Calibri" pitchFamily="34" charset="0"/>
                <a:ea typeface="Calibri" pitchFamily="34" charset="-122"/>
                <a:cs typeface="Calibri" pitchFamily="34" charset="-120"/>
              </a:rPr>
              <a:t>Stack succeeds only after /api/health answers</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B2A4A"/>
                </a:solidFill>
                <a:latin typeface="Cambria" pitchFamily="34" charset="0"/>
                <a:ea typeface="Cambria" pitchFamily="34" charset="-122"/>
                <a:cs typeface="Cambria" pitchFamily="34" charset="-120"/>
              </a:rPr>
              <a:t>Verified: tests, browser walk-through, container</a:t>
            </a:r>
            <a:endParaRPr lang="en-US" sz="3000" dirty="0"/>
          </a:p>
        </p:txBody>
      </p:sp>
      <p:sp>
        <p:nvSpPr>
          <p:cNvPr id="3" name="Text 1"/>
          <p:cNvSpPr txBox="1"/>
          <p:nvPr/>
        </p:nvSpPr>
        <p:spPr>
          <a:xfrm>
            <a:off x="548640" y="1371600"/>
            <a:ext cx="3474720" cy="868680"/>
          </a:xfrm>
          <a:prstGeom prst="rect">
            <a:avLst/>
          </a:prstGeom>
          <a:noFill/>
          <a:ln/>
        </p:spPr>
        <p:txBody>
          <a:bodyPr wrap="square" lIns="0" tIns="0" rIns="0" bIns="0" rtlCol="0" anchor="t"/>
          <a:lstStyle/>
          <a:p>
            <a:pPr indent="0" marL="0">
              <a:buNone/>
            </a:pPr>
            <a:r>
              <a:rPr lang="en-US" sz="4400" b="1" dirty="0">
                <a:solidFill>
                  <a:srgbClr val="1BAF7A"/>
                </a:solidFill>
                <a:latin typeface="Cambria" pitchFamily="34" charset="0"/>
                <a:ea typeface="Cambria" pitchFamily="34" charset="-122"/>
                <a:cs typeface="Cambria" pitchFamily="34" charset="-120"/>
              </a:rPr>
              <a:t>54 / 54</a:t>
            </a:r>
            <a:endParaRPr lang="en-US" sz="4400" dirty="0"/>
          </a:p>
        </p:txBody>
      </p:sp>
      <p:sp>
        <p:nvSpPr>
          <p:cNvPr id="4" name="Text 2"/>
          <p:cNvSpPr txBox="1"/>
          <p:nvPr/>
        </p:nvSpPr>
        <p:spPr>
          <a:xfrm>
            <a:off x="548640" y="2240280"/>
            <a:ext cx="3474720" cy="640080"/>
          </a:xfrm>
          <a:prstGeom prst="rect">
            <a:avLst/>
          </a:prstGeom>
          <a:noFill/>
          <a:ln/>
        </p:spPr>
        <p:txBody>
          <a:bodyPr wrap="square" lIns="0" tIns="0" rIns="0" bIns="0" rtlCol="0" anchor="t"/>
          <a:lstStyle/>
          <a:p>
            <a:pPr indent="0" marL="0">
              <a:buNone/>
            </a:pPr>
            <a:r>
              <a:rPr lang="en-US" sz="1400" dirty="0">
                <a:solidFill>
                  <a:srgbClr val="57606A"/>
                </a:solidFill>
                <a:latin typeface="Calibri" pitchFamily="34" charset="0"/>
                <a:ea typeface="Calibri" pitchFamily="34" charset="-122"/>
                <a:cs typeface="Calibri" pitchFamily="34" charset="-120"/>
              </a:rPr>
              <a:t>JUnit 5 tests passed (0 skipped)</a:t>
            </a:r>
            <a:endParaRPr lang="en-US" sz="1400" dirty="0"/>
          </a:p>
        </p:txBody>
      </p:sp>
      <p:sp>
        <p:nvSpPr>
          <p:cNvPr id="5" name="Text 3"/>
          <p:cNvSpPr txBox="1"/>
          <p:nvPr/>
        </p:nvSpPr>
        <p:spPr>
          <a:xfrm>
            <a:off x="4297680" y="1371600"/>
            <a:ext cx="3474720" cy="868680"/>
          </a:xfrm>
          <a:prstGeom prst="rect">
            <a:avLst/>
          </a:prstGeom>
          <a:noFill/>
          <a:ln/>
        </p:spPr>
        <p:txBody>
          <a:bodyPr wrap="square" lIns="0" tIns="0" rIns="0" bIns="0" rtlCol="0" anchor="t"/>
          <a:lstStyle/>
          <a:p>
            <a:pPr indent="0" marL="0">
              <a:buNone/>
            </a:pPr>
            <a:r>
              <a:rPr lang="en-US" sz="4400" b="1" dirty="0">
                <a:solidFill>
                  <a:srgbClr val="1B2A4A"/>
                </a:solidFill>
                <a:latin typeface="Cambria" pitchFamily="34" charset="0"/>
                <a:ea typeface="Cambria" pitchFamily="34" charset="-122"/>
                <a:cs typeface="Cambria" pitchFamily="34" charset="-120"/>
              </a:rPr>
              <a:t>8</a:t>
            </a:r>
            <a:endParaRPr lang="en-US" sz="4400" dirty="0"/>
          </a:p>
        </p:txBody>
      </p:sp>
      <p:sp>
        <p:nvSpPr>
          <p:cNvPr id="6" name="Text 4"/>
          <p:cNvSpPr txBox="1"/>
          <p:nvPr/>
        </p:nvSpPr>
        <p:spPr>
          <a:xfrm>
            <a:off x="4297680" y="2240280"/>
            <a:ext cx="3474720" cy="640080"/>
          </a:xfrm>
          <a:prstGeom prst="rect">
            <a:avLst/>
          </a:prstGeom>
          <a:noFill/>
          <a:ln/>
        </p:spPr>
        <p:txBody>
          <a:bodyPr wrap="square" lIns="0" tIns="0" rIns="0" bIns="0" rtlCol="0" anchor="t"/>
          <a:lstStyle/>
          <a:p>
            <a:pPr indent="0" marL="0">
              <a:buNone/>
            </a:pPr>
            <a:r>
              <a:rPr lang="en-US" sz="1400" dirty="0">
                <a:solidFill>
                  <a:srgbClr val="57606A"/>
                </a:solidFill>
                <a:latin typeface="Calibri" pitchFamily="34" charset="0"/>
                <a:ea typeface="Calibri" pitchFamily="34" charset="-122"/>
                <a:cs typeface="Calibri" pitchFamily="34" charset="-120"/>
              </a:rPr>
              <a:t>integration tests that run real simulations</a:t>
            </a:r>
            <a:endParaRPr lang="en-US" sz="1400" dirty="0"/>
          </a:p>
        </p:txBody>
      </p:sp>
      <p:sp>
        <p:nvSpPr>
          <p:cNvPr id="7" name="Text 5"/>
          <p:cNvSpPr txBox="1"/>
          <p:nvPr/>
        </p:nvSpPr>
        <p:spPr>
          <a:xfrm>
            <a:off x="8046720" y="1371600"/>
            <a:ext cx="3566160" cy="868680"/>
          </a:xfrm>
          <a:prstGeom prst="rect">
            <a:avLst/>
          </a:prstGeom>
          <a:noFill/>
          <a:ln/>
        </p:spPr>
        <p:txBody>
          <a:bodyPr wrap="square" lIns="0" tIns="0" rIns="0" bIns="0" rtlCol="0" anchor="t"/>
          <a:lstStyle/>
          <a:p>
            <a:pPr indent="0" marL="0">
              <a:buNone/>
            </a:pPr>
            <a:r>
              <a:rPr lang="en-US" sz="4400" b="1" dirty="0">
                <a:solidFill>
                  <a:srgbClr val="1B2A4A"/>
                </a:solidFill>
                <a:latin typeface="Cambria" pitchFamily="34" charset="0"/>
                <a:ea typeface="Cambria" pitchFamily="34" charset="-122"/>
                <a:cs typeface="Cambria" pitchFamily="34" charset="-120"/>
              </a:rPr>
              <a:t>0</a:t>
            </a:r>
            <a:endParaRPr lang="en-US" sz="4400" dirty="0"/>
          </a:p>
        </p:txBody>
      </p:sp>
      <p:sp>
        <p:nvSpPr>
          <p:cNvPr id="8" name="Text 6"/>
          <p:cNvSpPr txBox="1"/>
          <p:nvPr/>
        </p:nvSpPr>
        <p:spPr>
          <a:xfrm>
            <a:off x="8046720" y="2240280"/>
            <a:ext cx="3566160" cy="640080"/>
          </a:xfrm>
          <a:prstGeom prst="rect">
            <a:avLst/>
          </a:prstGeom>
          <a:noFill/>
          <a:ln/>
        </p:spPr>
        <p:txBody>
          <a:bodyPr wrap="square" lIns="0" tIns="0" rIns="0" bIns="0" rtlCol="0" anchor="t"/>
          <a:lstStyle/>
          <a:p>
            <a:pPr indent="0" marL="0">
              <a:buNone/>
            </a:pPr>
            <a:r>
              <a:rPr lang="en-US" sz="1400" dirty="0">
                <a:solidFill>
                  <a:srgbClr val="57606A"/>
                </a:solidFill>
                <a:latin typeface="Calibri" pitchFamily="34" charset="0"/>
                <a:ea typeface="Calibri" pitchFamily="34" charset="-122"/>
                <a:cs typeface="Calibri" pitchFamily="34" charset="-120"/>
              </a:rPr>
              <a:t>JavaScript errors in the browser walk-through</a:t>
            </a:r>
            <a:endParaRPr lang="en-US" sz="1400" dirty="0"/>
          </a:p>
        </p:txBody>
      </p:sp>
      <p:sp>
        <p:nvSpPr>
          <p:cNvPr id="9" name="Shape 7"/>
          <p:cNvSpPr/>
          <p:nvPr/>
        </p:nvSpPr>
        <p:spPr>
          <a:xfrm>
            <a:off x="548640" y="3383280"/>
            <a:ext cx="11064240" cy="1965960"/>
          </a:xfrm>
          <a:prstGeom prst="roundRect">
            <a:avLst>
              <a:gd name="adj" fmla="val 5581"/>
            </a:avLst>
          </a:prstGeom>
          <a:solidFill>
            <a:srgbClr val="F3F6FB"/>
          </a:solidFill>
          <a:ln w="12700">
            <a:solidFill>
              <a:srgbClr val="F3F6FB"/>
            </a:solidFill>
            <a:prstDash val="solid"/>
          </a:ln>
        </p:spPr>
      </p:sp>
      <p:sp>
        <p:nvSpPr>
          <p:cNvPr id="10" name="Text 8"/>
          <p:cNvSpPr txBox="1"/>
          <p:nvPr/>
        </p:nvSpPr>
        <p:spPr>
          <a:xfrm>
            <a:off x="822960" y="3566160"/>
            <a:ext cx="10515600" cy="16916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Unit: validation, billing rule, pacing, every decision branch, explanations, CSV parsing, forecasting, spike detection</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Database &amp; API: SQLite and PostgreSQL, uploads, HTTP 400 on bad input, 404 on path traversal</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Integration: authors' outputs reproduced; observing changes nothing; unlimited budget changes nothing; budgets enforced</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Container: healthy, reproduction exact inside Docker, data kept across restarts</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B2A4A"/>
                </a:solidFill>
                <a:latin typeface="Cambria" pitchFamily="34" charset="0"/>
                <a:ea typeface="Cambria" pitchFamily="34" charset="-122"/>
                <a:cs typeface="Cambria" pitchFamily="34" charset="-120"/>
              </a:rPr>
              <a:t>Limitations and next steps</a:t>
            </a:r>
            <a:endParaRPr lang="en-US" sz="3000" dirty="0"/>
          </a:p>
        </p:txBody>
      </p:sp>
      <p:sp>
        <p:nvSpPr>
          <p:cNvPr id="3" name="Shape 1"/>
          <p:cNvSpPr/>
          <p:nvPr/>
        </p:nvSpPr>
        <p:spPr>
          <a:xfrm>
            <a:off x="548640" y="1325880"/>
            <a:ext cx="5440680" cy="1371600"/>
          </a:xfrm>
          <a:prstGeom prst="roundRect">
            <a:avLst>
              <a:gd name="adj" fmla="val 8000"/>
            </a:avLst>
          </a:prstGeom>
          <a:solidFill>
            <a:srgbClr val="F3F6FB"/>
          </a:solidFill>
          <a:ln w="12700">
            <a:solidFill>
              <a:srgbClr val="F3F6FB"/>
            </a:solidFill>
            <a:prstDash val="solid"/>
          </a:ln>
        </p:spPr>
      </p:sp>
      <p:sp>
        <p:nvSpPr>
          <p:cNvPr id="4" name="Text 2"/>
          <p:cNvSpPr txBox="1"/>
          <p:nvPr/>
        </p:nvSpPr>
        <p:spPr>
          <a:xfrm>
            <a:off x="822960" y="1490472"/>
            <a:ext cx="4937760" cy="411480"/>
          </a:xfrm>
          <a:prstGeom prst="rect">
            <a:avLst/>
          </a:prstGeom>
          <a:noFill/>
          <a:ln/>
        </p:spPr>
        <p:txBody>
          <a:bodyPr wrap="square" lIns="0" tIns="0" rIns="0" bIns="0" rtlCol="0" anchor="t"/>
          <a:lstStyle/>
          <a:p>
            <a:pPr indent="0" marL="0">
              <a:buNone/>
            </a:pPr>
            <a:r>
              <a:rPr lang="en-US" sz="1800" b="1" dirty="0">
                <a:solidFill>
                  <a:srgbClr val="1B2A4A"/>
                </a:solidFill>
                <a:latin typeface="Calibri" pitchFamily="34" charset="0"/>
                <a:ea typeface="Calibri" pitchFamily="34" charset="-122"/>
                <a:cs typeface="Calibri" pitchFamily="34" charset="-120"/>
              </a:rPr>
              <a:t>Paper comparison pending</a:t>
            </a:r>
            <a:endParaRPr lang="en-US" sz="1800" dirty="0"/>
          </a:p>
        </p:txBody>
      </p:sp>
      <p:sp>
        <p:nvSpPr>
          <p:cNvPr id="5" name="Text 3"/>
          <p:cNvSpPr txBox="1"/>
          <p:nvPr/>
        </p:nvSpPr>
        <p:spPr>
          <a:xfrm>
            <a:off x="822960" y="1947672"/>
            <a:ext cx="4937760" cy="64008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Transcribe the paper's tables once the PDF is available</a:t>
            </a:r>
            <a:endParaRPr lang="en-US" sz="1500" dirty="0"/>
          </a:p>
        </p:txBody>
      </p:sp>
      <p:sp>
        <p:nvSpPr>
          <p:cNvPr id="6" name="Shape 4"/>
          <p:cNvSpPr/>
          <p:nvPr/>
        </p:nvSpPr>
        <p:spPr>
          <a:xfrm>
            <a:off x="6172200" y="1325880"/>
            <a:ext cx="5440680" cy="1371600"/>
          </a:xfrm>
          <a:prstGeom prst="roundRect">
            <a:avLst>
              <a:gd name="adj" fmla="val 8000"/>
            </a:avLst>
          </a:prstGeom>
          <a:solidFill>
            <a:srgbClr val="F3F6FB"/>
          </a:solidFill>
          <a:ln w="12700">
            <a:solidFill>
              <a:srgbClr val="F3F6FB"/>
            </a:solidFill>
            <a:prstDash val="solid"/>
          </a:ln>
        </p:spPr>
      </p:sp>
      <p:sp>
        <p:nvSpPr>
          <p:cNvPr id="7" name="Text 5"/>
          <p:cNvSpPr txBox="1"/>
          <p:nvPr/>
        </p:nvSpPr>
        <p:spPr>
          <a:xfrm>
            <a:off x="6446520" y="1490472"/>
            <a:ext cx="4937760" cy="411480"/>
          </a:xfrm>
          <a:prstGeom prst="rect">
            <a:avLst/>
          </a:prstGeom>
          <a:noFill/>
          <a:ln/>
        </p:spPr>
        <p:txBody>
          <a:bodyPr wrap="square" lIns="0" tIns="0" rIns="0" bIns="0" rtlCol="0" anchor="t"/>
          <a:lstStyle/>
          <a:p>
            <a:pPr indent="0" marL="0">
              <a:buNone/>
            </a:pPr>
            <a:r>
              <a:rPr lang="en-US" sz="1800" b="1" dirty="0">
                <a:solidFill>
                  <a:srgbClr val="1B2A4A"/>
                </a:solidFill>
                <a:latin typeface="Calibri" pitchFamily="34" charset="0"/>
                <a:ea typeface="Calibri" pitchFamily="34" charset="-122"/>
                <a:cs typeface="Calibri" pitchFamily="34" charset="-120"/>
              </a:rPr>
              <a:t>Replay fidelity</a:t>
            </a:r>
            <a:endParaRPr lang="en-US" sz="1800" dirty="0"/>
          </a:p>
        </p:txBody>
      </p:sp>
      <p:sp>
        <p:nvSpPr>
          <p:cNvPr id="8" name="Text 6"/>
          <p:cNvSpPr txBox="1"/>
          <p:nvPr/>
        </p:nvSpPr>
        <p:spPr>
          <a:xfrm>
            <a:off x="6446520" y="1947672"/>
            <a:ext cx="4937760" cy="64008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Per-minute CSVs lose intra-minute bursts (5.1 s vs 3.99 s)</a:t>
            </a:r>
            <a:endParaRPr lang="en-US" sz="1500" dirty="0"/>
          </a:p>
        </p:txBody>
      </p:sp>
      <p:sp>
        <p:nvSpPr>
          <p:cNvPr id="9" name="Shape 7"/>
          <p:cNvSpPr/>
          <p:nvPr/>
        </p:nvSpPr>
        <p:spPr>
          <a:xfrm>
            <a:off x="548640" y="2926080"/>
            <a:ext cx="5440680" cy="1371600"/>
          </a:xfrm>
          <a:prstGeom prst="roundRect">
            <a:avLst>
              <a:gd name="adj" fmla="val 8000"/>
            </a:avLst>
          </a:prstGeom>
          <a:solidFill>
            <a:srgbClr val="F3F6FB"/>
          </a:solidFill>
          <a:ln w="12700">
            <a:solidFill>
              <a:srgbClr val="F3F6FB"/>
            </a:solidFill>
            <a:prstDash val="solid"/>
          </a:ln>
        </p:spPr>
      </p:sp>
      <p:sp>
        <p:nvSpPr>
          <p:cNvPr id="10" name="Text 8"/>
          <p:cNvSpPr txBox="1"/>
          <p:nvPr/>
        </p:nvSpPr>
        <p:spPr>
          <a:xfrm>
            <a:off x="822960" y="3090672"/>
            <a:ext cx="4937760" cy="411480"/>
          </a:xfrm>
          <a:prstGeom prst="rect">
            <a:avLst/>
          </a:prstGeom>
          <a:noFill/>
          <a:ln/>
        </p:spPr>
        <p:txBody>
          <a:bodyPr wrap="square" lIns="0" tIns="0" rIns="0" bIns="0" rtlCol="0" anchor="t"/>
          <a:lstStyle/>
          <a:p>
            <a:pPr indent="0" marL="0">
              <a:buNone/>
            </a:pPr>
            <a:r>
              <a:rPr lang="en-US" sz="1800" b="1" dirty="0">
                <a:solidFill>
                  <a:srgbClr val="1B2A4A"/>
                </a:solidFill>
                <a:latin typeface="Calibri" pitchFamily="34" charset="0"/>
                <a:ea typeface="Calibri" pitchFamily="34" charset="-122"/>
                <a:cs typeface="Calibri" pitchFamily="34" charset="-120"/>
              </a:rPr>
              <a:t>Linear budget pacing</a:t>
            </a:r>
            <a:endParaRPr lang="en-US" sz="1800" dirty="0"/>
          </a:p>
        </p:txBody>
      </p:sp>
      <p:sp>
        <p:nvSpPr>
          <p:cNvPr id="11" name="Text 9"/>
          <p:cNvSpPr txBox="1"/>
          <p:nvPr/>
        </p:nvSpPr>
        <p:spPr>
          <a:xfrm>
            <a:off x="822960" y="3547872"/>
            <a:ext cx="4937760" cy="64008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Save budget for forecast peaks to cut CONFLICT decisions</a:t>
            </a:r>
            <a:endParaRPr lang="en-US" sz="1500" dirty="0"/>
          </a:p>
        </p:txBody>
      </p:sp>
      <p:sp>
        <p:nvSpPr>
          <p:cNvPr id="12" name="Shape 10"/>
          <p:cNvSpPr/>
          <p:nvPr/>
        </p:nvSpPr>
        <p:spPr>
          <a:xfrm>
            <a:off x="6172200" y="2926080"/>
            <a:ext cx="5440680" cy="1371600"/>
          </a:xfrm>
          <a:prstGeom prst="roundRect">
            <a:avLst>
              <a:gd name="adj" fmla="val 8000"/>
            </a:avLst>
          </a:prstGeom>
          <a:solidFill>
            <a:srgbClr val="F3F6FB"/>
          </a:solidFill>
          <a:ln w="12700">
            <a:solidFill>
              <a:srgbClr val="F3F6FB"/>
            </a:solidFill>
            <a:prstDash val="solid"/>
          </a:ln>
        </p:spPr>
      </p:sp>
      <p:sp>
        <p:nvSpPr>
          <p:cNvPr id="13" name="Text 11"/>
          <p:cNvSpPr txBox="1"/>
          <p:nvPr/>
        </p:nvSpPr>
        <p:spPr>
          <a:xfrm>
            <a:off x="6446520" y="3090672"/>
            <a:ext cx="4937760" cy="411480"/>
          </a:xfrm>
          <a:prstGeom prst="rect">
            <a:avLst/>
          </a:prstGeom>
          <a:noFill/>
          <a:ln/>
        </p:spPr>
        <p:txBody>
          <a:bodyPr wrap="square" lIns="0" tIns="0" rIns="0" bIns="0" rtlCol="0" anchor="t"/>
          <a:lstStyle/>
          <a:p>
            <a:pPr indent="0" marL="0">
              <a:buNone/>
            </a:pPr>
            <a:r>
              <a:rPr lang="en-US" sz="1800" b="1" dirty="0">
                <a:solidFill>
                  <a:srgbClr val="1B2A4A"/>
                </a:solidFill>
                <a:latin typeface="Calibri" pitchFamily="34" charset="0"/>
                <a:ea typeface="Calibri" pitchFamily="34" charset="-122"/>
                <a:cs typeface="Calibri" pitchFamily="34" charset="-120"/>
              </a:rPr>
              <a:t>Forecast precision</a:t>
            </a:r>
            <a:endParaRPr lang="en-US" sz="1800" dirty="0"/>
          </a:p>
        </p:txBody>
      </p:sp>
      <p:sp>
        <p:nvSpPr>
          <p:cNvPr id="14" name="Text 12"/>
          <p:cNvSpPr txBox="1"/>
          <p:nvPr/>
        </p:nvSpPr>
        <p:spPr>
          <a:xfrm>
            <a:off x="6446520" y="3547872"/>
            <a:ext cx="4937760" cy="64008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Compare learning-based predictors on more traces</a:t>
            </a:r>
            <a:endParaRPr lang="en-US" sz="1500" dirty="0"/>
          </a:p>
        </p:txBody>
      </p:sp>
      <p:sp>
        <p:nvSpPr>
          <p:cNvPr id="15" name="Shape 13"/>
          <p:cNvSpPr/>
          <p:nvPr/>
        </p:nvSpPr>
        <p:spPr>
          <a:xfrm>
            <a:off x="548640" y="4526280"/>
            <a:ext cx="5440680" cy="1371600"/>
          </a:xfrm>
          <a:prstGeom prst="roundRect">
            <a:avLst>
              <a:gd name="adj" fmla="val 8000"/>
            </a:avLst>
          </a:prstGeom>
          <a:solidFill>
            <a:srgbClr val="F3F6FB"/>
          </a:solidFill>
          <a:ln w="12700">
            <a:solidFill>
              <a:srgbClr val="F3F6FB"/>
            </a:solidFill>
            <a:prstDash val="solid"/>
          </a:ln>
        </p:spPr>
      </p:sp>
      <p:sp>
        <p:nvSpPr>
          <p:cNvPr id="16" name="Text 14"/>
          <p:cNvSpPr txBox="1"/>
          <p:nvPr/>
        </p:nvSpPr>
        <p:spPr>
          <a:xfrm>
            <a:off x="822960" y="4690872"/>
            <a:ext cx="4937760" cy="411480"/>
          </a:xfrm>
          <a:prstGeom prst="rect">
            <a:avLst/>
          </a:prstGeom>
          <a:noFill/>
          <a:ln/>
        </p:spPr>
        <p:txBody>
          <a:bodyPr wrap="square" lIns="0" tIns="0" rIns="0" bIns="0" rtlCol="0" anchor="t"/>
          <a:lstStyle/>
          <a:p>
            <a:pPr indent="0" marL="0">
              <a:buNone/>
            </a:pPr>
            <a:r>
              <a:rPr lang="en-US" sz="1800" b="1" dirty="0">
                <a:solidFill>
                  <a:srgbClr val="1B2A4A"/>
                </a:solidFill>
                <a:latin typeface="Calibri" pitchFamily="34" charset="0"/>
                <a:ea typeface="Calibri" pitchFamily="34" charset="-122"/>
                <a:cs typeface="Calibri" pitchFamily="34" charset="-120"/>
              </a:rPr>
              <a:t>Simulated scaling</a:t>
            </a:r>
            <a:endParaRPr lang="en-US" sz="1800" dirty="0"/>
          </a:p>
        </p:txBody>
      </p:sp>
      <p:sp>
        <p:nvSpPr>
          <p:cNvPr id="17" name="Text 15"/>
          <p:cNvSpPr txBox="1"/>
          <p:nvPr/>
        </p:nvSpPr>
        <p:spPr>
          <a:xfrm>
            <a:off x="822960" y="5148072"/>
            <a:ext cx="4937760" cy="64008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Real cloud runs only the dashboard, not the scaled Web app</a:t>
            </a:r>
            <a:endParaRPr lang="en-US" sz="1500" dirty="0"/>
          </a:p>
        </p:txBody>
      </p:sp>
      <p:sp>
        <p:nvSpPr>
          <p:cNvPr id="18" name="Shape 16"/>
          <p:cNvSpPr/>
          <p:nvPr/>
        </p:nvSpPr>
        <p:spPr>
          <a:xfrm>
            <a:off x="6172200" y="4526280"/>
            <a:ext cx="5440680" cy="1371600"/>
          </a:xfrm>
          <a:prstGeom prst="roundRect">
            <a:avLst>
              <a:gd name="adj" fmla="val 8000"/>
            </a:avLst>
          </a:prstGeom>
          <a:solidFill>
            <a:srgbClr val="F3F6FB"/>
          </a:solidFill>
          <a:ln w="12700">
            <a:solidFill>
              <a:srgbClr val="F3F6FB"/>
            </a:solidFill>
            <a:prstDash val="solid"/>
          </a:ln>
        </p:spPr>
      </p:sp>
      <p:sp>
        <p:nvSpPr>
          <p:cNvPr id="19" name="Text 17"/>
          <p:cNvSpPr txBox="1"/>
          <p:nvPr/>
        </p:nvSpPr>
        <p:spPr>
          <a:xfrm>
            <a:off x="6446520" y="4690872"/>
            <a:ext cx="4937760" cy="411480"/>
          </a:xfrm>
          <a:prstGeom prst="rect">
            <a:avLst/>
          </a:prstGeom>
          <a:noFill/>
          <a:ln/>
        </p:spPr>
        <p:txBody>
          <a:bodyPr wrap="square" lIns="0" tIns="0" rIns="0" bIns="0" rtlCol="0" anchor="t"/>
          <a:lstStyle/>
          <a:p>
            <a:pPr indent="0" marL="0">
              <a:buNone/>
            </a:pPr>
            <a:r>
              <a:rPr lang="en-US" sz="1800" b="1" dirty="0">
                <a:solidFill>
                  <a:srgbClr val="1B2A4A"/>
                </a:solidFill>
                <a:latin typeface="Calibri" pitchFamily="34" charset="0"/>
                <a:ea typeface="Calibri" pitchFamily="34" charset="-122"/>
                <a:cs typeface="Calibri" pitchFamily="34" charset="-120"/>
              </a:rPr>
              <a:t>Single instance</a:t>
            </a:r>
            <a:endParaRPr lang="en-US" sz="1800" dirty="0"/>
          </a:p>
        </p:txBody>
      </p:sp>
      <p:sp>
        <p:nvSpPr>
          <p:cNvPr id="20" name="Text 18"/>
          <p:cNvSpPr txBox="1"/>
          <p:nvPr/>
        </p:nvSpPr>
        <p:spPr>
          <a:xfrm>
            <a:off x="6446520" y="5148072"/>
            <a:ext cx="4937760" cy="640080"/>
          </a:xfrm>
          <a:prstGeom prst="rect">
            <a:avLst/>
          </a:prstGeom>
          <a:noFill/>
          <a:ln/>
        </p:spPr>
        <p:txBody>
          <a:bodyPr wrap="square" lIns="0" tIns="0" rIns="0" bIns="0" rtlCol="0" anchor="t"/>
          <a:lstStyle/>
          <a:p>
            <a:pPr indent="0" marL="0">
              <a:buNone/>
            </a:pPr>
            <a:r>
              <a:rPr lang="en-US" sz="1500" dirty="0">
                <a:solidFill>
                  <a:srgbClr val="57606A"/>
                </a:solidFill>
                <a:latin typeface="Calibri" pitchFamily="34" charset="0"/>
                <a:ea typeface="Calibri" pitchFamily="34" charset="-122"/>
                <a:cs typeface="Calibri" pitchFamily="34" charset="-120"/>
              </a:rPr>
              <a:t>Add HTTPS, login and a managed database for production</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Reproduced exactly, extended separately, trade-offs made visible</a:t>
            </a:r>
            <a:endParaRPr lang="en-US" sz="4000" dirty="0"/>
          </a:p>
        </p:txBody>
      </p:sp>
      <p:sp>
        <p:nvSpPr>
          <p:cNvPr id="3" name="Text 1"/>
          <p:cNvSpPr txBox="1"/>
          <p:nvPr/>
        </p:nvSpPr>
        <p:spPr>
          <a:xfrm>
            <a:off x="731520" y="3566160"/>
            <a:ext cx="10698480" cy="23774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Original AutoScaleSim outputs reproduced byte for byte</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Budgets enforced and every decision explained, with conflict warnings</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Custom workloads forecast, sized and replayed in the simulator</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Live demo: dashboard → reproduction → budget guard → workload upload</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AutoScaleSim Lab</dc:title>
  <dc:subject>PptxGenJS Presentation</dc:subject>
  <dc:creator>PptxGenJS</dc:creator>
  <cp:lastModifiedBy>PptxGenJS</cp:lastModifiedBy>
  <cp:revision>1</cp:revision>
  <dcterms:created xsi:type="dcterms:W3CDTF">2026-10-19T14:14:33Z</dcterms:created>
  <dcterms:modified xsi:type="dcterms:W3CDTF">2026-10-19T14:14:33Z</dcterms:modified>
</cp:coreProperties>
</file>